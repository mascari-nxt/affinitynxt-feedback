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46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10/2/2026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• Proposal content supplied by Tommy Starling.
• Affinity Group logo supplied by Tommy Starling.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• Current-state challenges are based on the user-provided proposal and internal sample request materials.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• Workflow and account-vetting requirement supplied by Tommy Starling.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• Required fields supplied by Tommy Starling.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• Manufacturer-specific QR codes, item dropdown menus, and distributor-based routing supplied by Tommy Starling.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• No Risk Guarantee language based on internal Affinity Group West No Risk Guarantee.
• The proposed 4–6 week sample timing should be confirmed operationally before launch.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• Benefits are proposal outcomes and should be validated through a pilot.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• Pilot structure is a recommendation based on the proposed workflow.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• Final scope, timing, ownership, compliance, and automation capabilities require cross-functional confirmation.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0584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66928" y="201168"/>
            <a:ext cx="5212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597080"/>
                </a:solidFill>
              </a:rPr>
              <a:t>AFFINITY GROUP  |  SAMPLE REQUEST PROPOSAL</a:t>
            </a:r>
            <a:endParaRPr lang="en-US" sz="850" dirty="0"/>
          </a:p>
        </p:txBody>
      </p:sp>
      <p:sp>
        <p:nvSpPr>
          <p:cNvPr id="4" name="Shape 2"/>
          <p:cNvSpPr/>
          <p:nvPr/>
        </p:nvSpPr>
        <p:spPr>
          <a:xfrm>
            <a:off x="566928" y="6473952"/>
            <a:ext cx="11045952" cy="0"/>
          </a:xfrm>
          <a:prstGeom prst="line">
            <a:avLst/>
          </a:prstGeom>
          <a:noFill/>
          <a:ln w="12700">
            <a:solidFill>
              <a:srgbClr val="D7E0E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66928" y="6528816"/>
            <a:ext cx="5029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718390"/>
                </a:solidFill>
              </a:rPr>
              <a:t>Tommy Starling  |  Affinity Group West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9418320" y="6528816"/>
            <a:ext cx="21945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b="1" dirty="0">
                <a:solidFill>
                  <a:srgbClr val="FF7A1A"/>
                </a:solidFill>
              </a:rPr>
              <a:t>DRAFT FOR DISCUSSION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6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868680" cy="685800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4" name="Image 0" descr="/mnt/data/Affinity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502920"/>
            <a:ext cx="2423160" cy="9692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05840" y="1389888"/>
            <a:ext cx="7498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QUALIFIED SAMPLE</a:t>
            </a:r>
            <a:endParaRPr lang="en-US" sz="3400" dirty="0"/>
          </a:p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</a:rPr>
              <a:t>REQUESTS AT FOOD SHOWS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1024128" y="29718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D8E4EA"/>
                </a:solidFill>
              </a:rPr>
              <a:t>A simple QR-based intake process that protects field time, improves data quality, and supports meaningful business development.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1024128" y="4297680"/>
            <a:ext cx="2057400" cy="512064"/>
          </a:xfrm>
          <a:prstGeom prst="roundRect">
            <a:avLst>
              <a:gd name="adj" fmla="val 35714"/>
            </a:avLst>
          </a:prstGeom>
          <a:solidFill>
            <a:srgbClr val="243746"/>
          </a:solidFill>
          <a:ln w="12700">
            <a:solidFill>
              <a:srgbClr val="2437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115568" y="4462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VET THE OPPORTUNITY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4297680"/>
            <a:ext cx="2057400" cy="512064"/>
          </a:xfrm>
          <a:prstGeom prst="roundRect">
            <a:avLst>
              <a:gd name="adj" fmla="val 35714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7"/>
          <p:cNvSpPr/>
          <p:nvPr/>
        </p:nvSpPr>
        <p:spPr>
          <a:xfrm>
            <a:off x="3447288" y="4462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CAPTURE NXT DATA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87568" y="4297680"/>
            <a:ext cx="2057400" cy="512064"/>
          </a:xfrm>
          <a:prstGeom prst="roundRect">
            <a:avLst>
              <a:gd name="adj" fmla="val 35714"/>
            </a:avLst>
          </a:prstGeom>
          <a:solidFill>
            <a:srgbClr val="243746"/>
          </a:solidFill>
          <a:ln w="12700">
            <a:solidFill>
              <a:srgbClr val="24374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5779008" y="4462272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</a:rPr>
              <a:t>SET CLEAR EXPECTATIONS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1024128" y="59893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FC3CE"/>
                </a:solidFill>
              </a:rPr>
              <a:t>Proposal by Tommy Starling  |  Affinity Group West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622"/>
                </a:solidFill>
              </a:rPr>
              <a:t>The Core Problem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11704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7080"/>
                </a:solidFill>
              </a:rPr>
              <a:t>Easy sample-request clicks can create incomplete, low-intent delivery requests.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2560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Affinity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7472"/>
            <a:ext cx="132588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828800"/>
            <a:ext cx="2926080" cy="33832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>
            <a:outerShdw blurRad="19050" dist="10160" dir="27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731520" y="1828800"/>
            <a:ext cx="82296" cy="3383280"/>
          </a:xfrm>
          <a:prstGeom prst="rect">
            <a:avLst/>
          </a:prstGeom>
          <a:solidFill>
            <a:srgbClr val="C85A54"/>
          </a:solidFill>
          <a:ln w="12700">
            <a:solidFill>
              <a:srgbClr val="C85A54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60120" y="203911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Low-friction requests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60120" y="2542032"/>
            <a:ext cx="2487168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3041"/>
                </a:solidFill>
              </a:rPr>
              <a:t>A customer can request delivery with limited account detail or purchase intent. Curiosity can become a sample request because submission is easy.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133088" y="1828800"/>
            <a:ext cx="2926080" cy="33832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133088" y="1828800"/>
            <a:ext cx="82296" cy="338328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361688" y="203911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Incomplete information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361688" y="2542032"/>
            <a:ext cx="2487168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3041"/>
                </a:solidFill>
              </a:rPr>
              <a:t>The field team needs complete account information, including contact name and title, email address, distributor sales rep, and usage potential before acting.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534656" y="1828800"/>
            <a:ext cx="2926080" cy="33832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7534656" y="1828800"/>
            <a:ext cx="82296" cy="3383280"/>
          </a:xfrm>
          <a:prstGeom prst="rect">
            <a:avLst/>
          </a:prstGeom>
          <a:solidFill>
            <a:srgbClr val="2C6EAA"/>
          </a:solidFill>
          <a:ln w="12700">
            <a:solidFill>
              <a:srgbClr val="2C6E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763256" y="2039112"/>
            <a:ext cx="2487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Delayed follow-up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763256" y="2542032"/>
            <a:ext cx="2487168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53041"/>
                </a:solidFill>
              </a:rPr>
              <a:t>Customer information research and communication with sales reps takes up valuable time and hinders sample outreach.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1097280" y="5650992"/>
            <a:ext cx="9966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71622"/>
                </a:solidFill>
              </a:rPr>
              <a:t>Convenience stays high for tasting. Delivered samples require qualification.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622"/>
                </a:solidFill>
              </a:rPr>
              <a:t>Proposed Food Show Policy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11704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7080"/>
                </a:solidFill>
              </a:rPr>
              <a:t>The client or Affinity show representative vets the account before QR access.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2560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Affinity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7472"/>
            <a:ext cx="132588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38912" y="1847088"/>
            <a:ext cx="2029968" cy="288036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1124712" y="2130552"/>
            <a:ext cx="658368" cy="658368"/>
          </a:xfrm>
          <a:prstGeom prst="ellipse">
            <a:avLst/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1124712" y="23225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67512" y="3090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622"/>
                </a:solidFill>
              </a:rPr>
              <a:t>TRY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0080" y="3566160"/>
            <a:ext cx="1627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53041"/>
                </a:solidFill>
              </a:rPr>
              <a:t>Customer tastes products at the booth.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770632" y="1847088"/>
            <a:ext cx="2029968" cy="288036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3456432" y="2130552"/>
            <a:ext cx="658368" cy="658368"/>
          </a:xfrm>
          <a:prstGeom prst="ellipse">
            <a:avLst/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0"/>
          <p:cNvSpPr/>
          <p:nvPr/>
        </p:nvSpPr>
        <p:spPr>
          <a:xfrm>
            <a:off x="3456432" y="23225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2999232" y="3090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622"/>
                </a:solidFill>
              </a:rPr>
              <a:t>TAKE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2971800" y="3566160"/>
            <a:ext cx="1627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53041"/>
                </a:solidFill>
              </a:rPr>
              <a:t>Customer takes a small test sample when available.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5102352" y="1847088"/>
            <a:ext cx="2029968" cy="2880360"/>
          </a:xfrm>
          <a:prstGeom prst="roundRect">
            <a:avLst>
              <a:gd name="adj" fmla="val 3604"/>
            </a:avLst>
          </a:prstGeom>
          <a:solidFill>
            <a:srgbClr val="FFF2E8"/>
          </a:solidFill>
          <a:ln w="25400">
            <a:solidFill>
              <a:srgbClr val="FF7A1A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7" name="Shape 14"/>
          <p:cNvSpPr/>
          <p:nvPr/>
        </p:nvSpPr>
        <p:spPr>
          <a:xfrm>
            <a:off x="5788152" y="2130552"/>
            <a:ext cx="658368" cy="658368"/>
          </a:xfrm>
          <a:prstGeom prst="ellipse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5"/>
          <p:cNvSpPr/>
          <p:nvPr/>
        </p:nvSpPr>
        <p:spPr>
          <a:xfrm>
            <a:off x="5788152" y="23225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330952" y="3090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622"/>
                </a:solidFill>
              </a:rPr>
              <a:t>VET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5303520" y="3566160"/>
            <a:ext cx="1627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53041"/>
                </a:solidFill>
              </a:rPr>
              <a:t>Affinity representative vets account opportunity before presenting QR code.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7434072" y="1847088"/>
            <a:ext cx="2029968" cy="288036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2" name="Shape 19"/>
          <p:cNvSpPr/>
          <p:nvPr/>
        </p:nvSpPr>
        <p:spPr>
          <a:xfrm>
            <a:off x="8119872" y="2130552"/>
            <a:ext cx="658368" cy="658368"/>
          </a:xfrm>
          <a:prstGeom prst="ellipse">
            <a:avLst/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0"/>
          <p:cNvSpPr/>
          <p:nvPr/>
        </p:nvSpPr>
        <p:spPr>
          <a:xfrm>
            <a:off x="8119872" y="23225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662672" y="3090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622"/>
                </a:solidFill>
              </a:rPr>
              <a:t>SCAN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7635240" y="3566160"/>
            <a:ext cx="1627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53041"/>
                </a:solidFill>
              </a:rPr>
              <a:t>Customer scans the QR code and completes the form.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9765792" y="1847088"/>
            <a:ext cx="2029968" cy="2880360"/>
          </a:xfrm>
          <a:prstGeom prst="roundRect">
            <a:avLst>
              <a:gd name="adj" fmla="val 360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10451592" y="2130552"/>
            <a:ext cx="658368" cy="658368"/>
          </a:xfrm>
          <a:prstGeom prst="ellipse">
            <a:avLst/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10451592" y="2322576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5</a:t>
            </a:r>
            <a:endParaRPr lang="en-US" sz="1300" dirty="0"/>
          </a:p>
        </p:txBody>
      </p:sp>
      <p:sp>
        <p:nvSpPr>
          <p:cNvPr id="29" name="Text 26"/>
          <p:cNvSpPr/>
          <p:nvPr/>
        </p:nvSpPr>
        <p:spPr>
          <a:xfrm>
            <a:off x="9994392" y="309067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622"/>
                </a:solidFill>
              </a:rPr>
              <a:t>SUBMIT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9966960" y="3566160"/>
            <a:ext cx="1627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153041"/>
                </a:solidFill>
              </a:rPr>
              <a:t>Customer submits completed form to request samples.</a:t>
            </a:r>
            <a:endParaRPr lang="en-US" sz="1250" dirty="0"/>
          </a:p>
        </p:txBody>
      </p:sp>
      <p:sp>
        <p:nvSpPr>
          <p:cNvPr id="31" name="Text 28"/>
          <p:cNvSpPr/>
          <p:nvPr/>
        </p:nvSpPr>
        <p:spPr>
          <a:xfrm>
            <a:off x="2103120" y="523036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7A1A"/>
                </a:solidFill>
              </a:rPr>
              <a:t>Only vetted accounts requiring delivered samples enter the QR workflow.</a:t>
            </a:r>
            <a:endParaRPr lang="en-US" sz="180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622"/>
                </a:solidFill>
              </a:rPr>
              <a:t>Required Qualification Form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11704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7080"/>
                </a:solidFill>
              </a:rPr>
              <a:t>Nine required fields make every delivered-sample request actionable.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2560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Affinity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7472"/>
            <a:ext cx="132588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94360" y="1755648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731520" y="1984248"/>
            <a:ext cx="960120" cy="438912"/>
          </a:xfrm>
          <a:prstGeom prst="roundRect">
            <a:avLst>
              <a:gd name="adj" fmla="val 35417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77240" y="213969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ACCOUNT</a:t>
            </a:r>
            <a:endParaRPr lang="en-US" sz="820" dirty="0"/>
          </a:p>
        </p:txBody>
      </p:sp>
      <p:sp>
        <p:nvSpPr>
          <p:cNvPr id="9" name="Text 6"/>
          <p:cNvSpPr/>
          <p:nvPr/>
        </p:nvSpPr>
        <p:spPr>
          <a:xfrm>
            <a:off x="1874520" y="20025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41"/>
                </a:solidFill>
              </a:rPr>
              <a:t>Account name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4361688" y="1755648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498848" y="1984248"/>
            <a:ext cx="960120" cy="438912"/>
          </a:xfrm>
          <a:prstGeom prst="roundRect">
            <a:avLst>
              <a:gd name="adj" fmla="val 35417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544568" y="213969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LOCATION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5641848" y="20025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41"/>
                </a:solidFill>
              </a:rPr>
              <a:t>Account address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8129016" y="1755648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266176" y="1984248"/>
            <a:ext cx="960120" cy="438912"/>
          </a:xfrm>
          <a:prstGeom prst="roundRect">
            <a:avLst>
              <a:gd name="adj" fmla="val 35417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311896" y="2139696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PHONE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9409176" y="2002536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41"/>
                </a:solidFill>
              </a:rPr>
              <a:t>Account phone number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594360" y="3108960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31520" y="3337560"/>
            <a:ext cx="960120" cy="438912"/>
          </a:xfrm>
          <a:prstGeom prst="roundRect">
            <a:avLst>
              <a:gd name="adj" fmla="val 35417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77240" y="349300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CONTACT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1874520" y="33558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41"/>
                </a:solidFill>
              </a:rPr>
              <a:t>Contact name + title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361688" y="3108960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3" name="Shape 20"/>
          <p:cNvSpPr/>
          <p:nvPr/>
        </p:nvSpPr>
        <p:spPr>
          <a:xfrm>
            <a:off x="4498848" y="3337560"/>
            <a:ext cx="960120" cy="438912"/>
          </a:xfrm>
          <a:prstGeom prst="roundRect">
            <a:avLst>
              <a:gd name="adj" fmla="val 35417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4" name="Text 21"/>
          <p:cNvSpPr/>
          <p:nvPr/>
        </p:nvSpPr>
        <p:spPr>
          <a:xfrm>
            <a:off x="4544568" y="349300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EMAIL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5641848" y="33558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41"/>
                </a:solidFill>
              </a:rPr>
              <a:t>Email address</a:t>
            </a:r>
            <a:endParaRPr lang="en-US" sz="1350" dirty="0"/>
          </a:p>
        </p:txBody>
      </p:sp>
      <p:sp>
        <p:nvSpPr>
          <p:cNvPr id="26" name="Shape 23"/>
          <p:cNvSpPr/>
          <p:nvPr/>
        </p:nvSpPr>
        <p:spPr>
          <a:xfrm>
            <a:off x="8129016" y="3108960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27" name="Shape 24"/>
          <p:cNvSpPr/>
          <p:nvPr/>
        </p:nvSpPr>
        <p:spPr>
          <a:xfrm>
            <a:off x="8266176" y="3337560"/>
            <a:ext cx="960120" cy="438912"/>
          </a:xfrm>
          <a:prstGeom prst="roundRect">
            <a:avLst>
              <a:gd name="adj" fmla="val 35417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5"/>
          <p:cNvSpPr/>
          <p:nvPr/>
        </p:nvSpPr>
        <p:spPr>
          <a:xfrm>
            <a:off x="8311896" y="3493008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PRODUCT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9409176" y="3355848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41"/>
                </a:solidFill>
              </a:rPr>
              <a:t>Product requested</a:t>
            </a:r>
            <a:endParaRPr lang="en-US" sz="1350" dirty="0"/>
          </a:p>
        </p:txBody>
      </p:sp>
      <p:sp>
        <p:nvSpPr>
          <p:cNvPr id="30" name="Shape 27"/>
          <p:cNvSpPr/>
          <p:nvPr/>
        </p:nvSpPr>
        <p:spPr>
          <a:xfrm>
            <a:off x="594360" y="4462272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1" name="Shape 28"/>
          <p:cNvSpPr/>
          <p:nvPr/>
        </p:nvSpPr>
        <p:spPr>
          <a:xfrm>
            <a:off x="731520" y="4690872"/>
            <a:ext cx="960120" cy="438912"/>
          </a:xfrm>
          <a:prstGeom prst="roundRect">
            <a:avLst>
              <a:gd name="adj" fmla="val 35417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29"/>
          <p:cNvSpPr/>
          <p:nvPr/>
        </p:nvSpPr>
        <p:spPr>
          <a:xfrm>
            <a:off x="777240" y="484632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USAGE</a:t>
            </a:r>
            <a:endParaRPr lang="en-US" sz="820" dirty="0"/>
          </a:p>
        </p:txBody>
      </p:sp>
      <p:sp>
        <p:nvSpPr>
          <p:cNvPr id="33" name="Text 30"/>
          <p:cNvSpPr/>
          <p:nvPr/>
        </p:nvSpPr>
        <p:spPr>
          <a:xfrm>
            <a:off x="1874520" y="47091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41"/>
                </a:solidFill>
              </a:rPr>
              <a:t>Potential weekly usage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4361688" y="4462272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5" name="Shape 32"/>
          <p:cNvSpPr/>
          <p:nvPr/>
        </p:nvSpPr>
        <p:spPr>
          <a:xfrm>
            <a:off x="4498848" y="4690872"/>
            <a:ext cx="960120" cy="438912"/>
          </a:xfrm>
          <a:prstGeom prst="roundRect">
            <a:avLst>
              <a:gd name="adj" fmla="val 35417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3"/>
          <p:cNvSpPr/>
          <p:nvPr/>
        </p:nvSpPr>
        <p:spPr>
          <a:xfrm>
            <a:off x="4544568" y="484632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REP</a:t>
            </a:r>
            <a:endParaRPr lang="en-US" sz="820" dirty="0"/>
          </a:p>
        </p:txBody>
      </p:sp>
      <p:sp>
        <p:nvSpPr>
          <p:cNvPr id="37" name="Text 34"/>
          <p:cNvSpPr/>
          <p:nvPr/>
        </p:nvSpPr>
        <p:spPr>
          <a:xfrm>
            <a:off x="5641848" y="47091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41"/>
                </a:solidFill>
              </a:rPr>
              <a:t>Sales representative name</a:t>
            </a:r>
            <a:endParaRPr lang="en-US" sz="1350" dirty="0"/>
          </a:p>
        </p:txBody>
      </p:sp>
      <p:sp>
        <p:nvSpPr>
          <p:cNvPr id="38" name="Shape 35"/>
          <p:cNvSpPr/>
          <p:nvPr/>
        </p:nvSpPr>
        <p:spPr>
          <a:xfrm>
            <a:off x="8129016" y="4462272"/>
            <a:ext cx="3429000" cy="932688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39" name="Shape 36"/>
          <p:cNvSpPr/>
          <p:nvPr/>
        </p:nvSpPr>
        <p:spPr>
          <a:xfrm>
            <a:off x="8266176" y="4690872"/>
            <a:ext cx="960120" cy="438912"/>
          </a:xfrm>
          <a:prstGeom prst="roundRect">
            <a:avLst>
              <a:gd name="adj" fmla="val 35417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7"/>
          <p:cNvSpPr/>
          <p:nvPr/>
        </p:nvSpPr>
        <p:spPr>
          <a:xfrm>
            <a:off x="8311896" y="4846320"/>
            <a:ext cx="8686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</a:rPr>
              <a:t>COMMENTS</a:t>
            </a:r>
            <a:endParaRPr lang="en-US" sz="820" dirty="0"/>
          </a:p>
        </p:txBody>
      </p:sp>
      <p:sp>
        <p:nvSpPr>
          <p:cNvPr id="41" name="Text 38"/>
          <p:cNvSpPr/>
          <p:nvPr/>
        </p:nvSpPr>
        <p:spPr>
          <a:xfrm>
            <a:off x="9409176" y="4709160"/>
            <a:ext cx="1874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53041"/>
                </a:solidFill>
              </a:rPr>
              <a:t>Additional comments or opportunity notes</a:t>
            </a:r>
            <a:endParaRPr lang="en-US" sz="135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622"/>
                </a:solidFill>
              </a:rPr>
              <a:t>QR Code and Routing Logic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11704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7080"/>
                </a:solidFill>
              </a:rPr>
              <a:t>Manufacturer-specific product selection with distributor-based Affinity routing.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2560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Affinity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7472"/>
            <a:ext cx="132588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02920" y="1874520"/>
            <a:ext cx="2487168" cy="329184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502920" y="1874520"/>
            <a:ext cx="82296" cy="329184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731520" y="20848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1  |  VET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31520" y="2587752"/>
            <a:ext cx="204825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3041"/>
                </a:solidFill>
              </a:rPr>
              <a:t>Client or Affinity show representative confirms the account is a viable opportunity before QR access.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401568" y="1874520"/>
            <a:ext cx="2487168" cy="329184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3401568" y="1874520"/>
            <a:ext cx="82296" cy="3291840"/>
          </a:xfrm>
          <a:prstGeom prst="rect">
            <a:avLst/>
          </a:prstGeom>
          <a:solidFill>
            <a:srgbClr val="2C6EAA"/>
          </a:solidFill>
          <a:ln w="12700">
            <a:solidFill>
              <a:srgbClr val="2C6E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3630168" y="20848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2  |  SCAN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3630168" y="2587752"/>
            <a:ext cx="204825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3041"/>
                </a:solidFill>
              </a:rPr>
              <a:t>The customer scans the QR code assigned to the manufacturer being presented.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300216" y="1874520"/>
            <a:ext cx="2487168" cy="329184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6300216" y="1874520"/>
            <a:ext cx="82296" cy="3291840"/>
          </a:xfrm>
          <a:prstGeom prst="rect">
            <a:avLst/>
          </a:prstGeom>
          <a:solidFill>
            <a:srgbClr val="2A8C6B"/>
          </a:solidFill>
          <a:ln w="12700">
            <a:solidFill>
              <a:srgbClr val="2A8C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6528816" y="20848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3  |  SELECT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528816" y="2587752"/>
            <a:ext cx="204825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3041"/>
                </a:solidFill>
              </a:rPr>
              <a:t>The landing page displays a dropdown menu of that manufacturer’s items being presented.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9198864" y="1874520"/>
            <a:ext cx="2487168" cy="3291840"/>
          </a:xfrm>
          <a:prstGeom prst="roundRect">
            <a:avLst>
              <a:gd name="adj" fmla="val 2574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9198864" y="1874520"/>
            <a:ext cx="82296" cy="3291840"/>
          </a:xfrm>
          <a:prstGeom prst="rect">
            <a:avLst/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9427464" y="2084832"/>
            <a:ext cx="2048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4  |  ROUTE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9427464" y="2587752"/>
            <a:ext cx="2048256" cy="2377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53041"/>
                </a:solidFill>
              </a:rPr>
              <a:t>The main landing page is distributor specific. This allows routing to the appropriate Affinity representative.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05840" y="5532120"/>
            <a:ext cx="10195560" cy="603504"/>
          </a:xfrm>
          <a:prstGeom prst="rect">
            <a:avLst/>
          </a:prstGeom>
          <a:solidFill>
            <a:srgbClr val="FFF2E8"/>
          </a:solidFill>
          <a:ln>
            <a:solidFill>
              <a:srgbClr val="FF7A1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71622"/>
                </a:solidFill>
              </a:rPr>
              <a:t>Product selection is manufacturer-specific. Requests are routed depending on distributor.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622"/>
                </a:solidFill>
              </a:rPr>
              <a:t>Automated Customer Response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11704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7080"/>
                </a:solidFill>
              </a:rPr>
              <a:t>Submission immediately acknowledges the request and creates two paths to testing.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2560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Affinity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7472"/>
            <a:ext cx="132588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664208"/>
            <a:ext cx="3108960" cy="4206240"/>
          </a:xfrm>
          <a:prstGeom prst="roundRect">
            <a:avLst>
              <a:gd name="adj" fmla="val 2941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143000" y="2057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FFFFFF"/>
                </a:solidFill>
              </a:rPr>
              <a:t>THANK YOU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1188720" y="2788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D7E4EA"/>
                </a:solidFill>
              </a:rPr>
              <a:t>Your Affinity Group sample request has been received.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188720" y="4389120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Customer copy + assigned Affinity representative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572000" y="1783080"/>
            <a:ext cx="3063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572000" y="1783080"/>
            <a:ext cx="82296" cy="1965960"/>
          </a:xfrm>
          <a:prstGeom prst="rect">
            <a:avLst/>
          </a:prstGeom>
          <a:solidFill>
            <a:srgbClr val="2A8C6B"/>
          </a:solidFill>
          <a:ln w="12700">
            <a:solidFill>
              <a:srgbClr val="2A8C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800600" y="1993392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PATH A  |  ORDER NOW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800600" y="2496312"/>
            <a:ext cx="262432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sz="1250" dirty="0">
                <a:solidFill>
                  <a:srgbClr val="153041"/>
                </a:solidFill>
                <a:latin typeface="Aptos"/>
              </a:rPr>
              <a:t>Use the Affinity Group No Risk Guarantee to order your first case from (Insert Distributor Name) and begin testing without waiting for sample delivery.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8046720" y="1783080"/>
            <a:ext cx="306324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046720" y="1783080"/>
            <a:ext cx="82296" cy="196596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275320" y="1993392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PATH B  |  SAMPLE DELIVERY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275320" y="2496312"/>
            <a:ext cx="262432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sz="1300" dirty="0">
                <a:solidFill>
                  <a:srgbClr val="153041"/>
                </a:solidFill>
                <a:latin typeface="Aptos"/>
              </a:rPr>
              <a:t>An Affinity Group associate will coordinate sample requests. Please note that sample delivery may take up to 4-6 weeks.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4572000" y="4160520"/>
            <a:ext cx="6537960" cy="1353312"/>
          </a:xfrm>
          <a:prstGeom prst="roundRect">
            <a:avLst>
              <a:gd name="adj" fmla="val 4730"/>
            </a:avLst>
          </a:prstGeom>
          <a:solidFill>
            <a:srgbClr val="EEF4F7"/>
          </a:solidFill>
          <a:ln w="12700">
            <a:solidFill>
              <a:srgbClr val="CBD9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6"/>
          <p:cNvSpPr/>
          <p:nvPr/>
        </p:nvSpPr>
        <p:spPr>
          <a:xfrm>
            <a:off x="4892040" y="44348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Included automatically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7059168" y="429768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>
                <a:solidFill>
                  <a:srgbClr val="153041"/>
                </a:solidFill>
                <a:latin typeface="Aptos"/>
              </a:rPr>
              <a:t>• No Risk Guarantee</a:t>
            </a:r>
            <a:br/>
            <a:r>
              <a:rPr sz="1400">
                <a:solidFill>
                  <a:srgbClr val="153041"/>
                </a:solidFill>
                <a:latin typeface="Aptos"/>
              </a:rPr>
              <a:t>• Product specification sheet, when available</a:t>
            </a:r>
            <a:br/>
            <a:r>
              <a:rPr sz="1400">
                <a:solidFill>
                  <a:srgbClr val="153041"/>
                </a:solidFill>
                <a:latin typeface="Aptos"/>
              </a:rPr>
              <a:t>• Details of the sample request for customer records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7BA557-DD50-6775-A897-1A2B93EEF5AF}"/>
              </a:ext>
            </a:extLst>
          </p:cNvPr>
          <p:cNvSpPr txBox="1"/>
          <p:nvPr/>
        </p:nvSpPr>
        <p:spPr>
          <a:xfrm>
            <a:off x="4419600" y="5808785"/>
            <a:ext cx="554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goal is to sell…not just to sample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622"/>
                </a:solidFill>
              </a:rPr>
              <a:t>What Affinity Group Gains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11704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7080"/>
                </a:solidFill>
              </a:rPr>
              <a:t>The workflow converts food show interest into qualified, trackable business development.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2560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Affinity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7472"/>
            <a:ext cx="132588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85800" y="1737360"/>
            <a:ext cx="50749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85800" y="1737360"/>
            <a:ext cx="82296" cy="1664208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914400" y="1947672"/>
            <a:ext cx="4636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BETTER LEADS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2450592"/>
            <a:ext cx="463600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53041"/>
                </a:solidFill>
              </a:rPr>
              <a:t>Human vetting and an easy-to-use web-based submission form will filter requests before resources are committed.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217920" y="1737360"/>
            <a:ext cx="50749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6217920" y="1737360"/>
            <a:ext cx="82296" cy="1664208"/>
          </a:xfrm>
          <a:prstGeom prst="rect">
            <a:avLst/>
          </a:prstGeom>
          <a:solidFill>
            <a:srgbClr val="2C6EAA"/>
          </a:solidFill>
          <a:ln w="12700">
            <a:solidFill>
              <a:srgbClr val="2C6E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6446520" y="1947672"/>
            <a:ext cx="4636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FASTER ACTION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46520" y="2450592"/>
            <a:ext cx="463600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sz="1250" dirty="0">
                <a:solidFill>
                  <a:srgbClr val="153041"/>
                </a:solidFill>
                <a:latin typeface="Aptos"/>
              </a:rPr>
              <a:t>The assigned Affinity representative receives completed customer contact details for </a:t>
            </a:r>
            <a:r>
              <a:rPr lang="en-US" sz="1250" dirty="0">
                <a:solidFill>
                  <a:srgbClr val="153041"/>
                </a:solidFill>
                <a:latin typeface="Aptos"/>
              </a:rPr>
              <a:t>sample </a:t>
            </a:r>
            <a:r>
              <a:rPr sz="1250" dirty="0">
                <a:solidFill>
                  <a:srgbClr val="153041"/>
                </a:solidFill>
                <a:latin typeface="Aptos"/>
              </a:rPr>
              <a:t>request follow-up and additional vetting.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685800" y="3794760"/>
            <a:ext cx="50749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685800" y="3794760"/>
            <a:ext cx="82296" cy="1664208"/>
          </a:xfrm>
          <a:prstGeom prst="rect">
            <a:avLst/>
          </a:prstGeom>
          <a:solidFill>
            <a:srgbClr val="2A8C6B"/>
          </a:solidFill>
          <a:ln w="12700">
            <a:solidFill>
              <a:srgbClr val="2A8C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914400" y="4005072"/>
            <a:ext cx="4636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RICHER DATA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914400" y="4507992"/>
            <a:ext cx="463600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53041"/>
                </a:solidFill>
              </a:rPr>
              <a:t>Account contacts, email addresses, product interest, sales rep, and usage potential support NXT outreach and segmentation. This information also helps with vetting.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217920" y="3794760"/>
            <a:ext cx="5074920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6217920" y="3794760"/>
            <a:ext cx="82296" cy="1664208"/>
          </a:xfrm>
          <a:prstGeom prst="rect">
            <a:avLst/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6446520" y="4005072"/>
            <a:ext cx="46360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CLEAR EXPECTATIONS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6446520" y="4507992"/>
            <a:ext cx="4636008" cy="7498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53041"/>
                </a:solidFill>
              </a:rPr>
              <a:t>Automated confirmation communicates testing options, attachments, and sample timing.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1051560" y="5916168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71622"/>
                </a:solidFill>
              </a:rPr>
              <a:t>Outcome: fewer low-intent requests, more complete opportunities, and stronger follow-through.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622"/>
                </a:solidFill>
              </a:rPr>
              <a:t>Recommended Pilot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11704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7080"/>
                </a:solidFill>
              </a:rPr>
              <a:t>Test the process at one food show before changing the broader workflow.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2560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Affinity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7472"/>
            <a:ext cx="132588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58368" y="1737360"/>
            <a:ext cx="3429000" cy="361188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7" name="Shape 4"/>
          <p:cNvSpPr/>
          <p:nvPr/>
        </p:nvSpPr>
        <p:spPr>
          <a:xfrm>
            <a:off x="658368" y="1737360"/>
            <a:ext cx="82296" cy="3611880"/>
          </a:xfrm>
          <a:prstGeom prst="rect">
            <a:avLst/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886968" y="1947672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BEFORE THE SHOW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86968" y="2450592"/>
            <a:ext cx="2990088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3041"/>
                </a:solidFill>
              </a:rPr>
              <a:t>Build the main landing page, manufacturer QR codes, item dropdown menus, automated email, and distributor-based routing.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498848" y="1737360"/>
            <a:ext cx="3429000" cy="361188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498848" y="1737360"/>
            <a:ext cx="82296" cy="3611880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4727448" y="1947672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AT THE SHOW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27448" y="2450592"/>
            <a:ext cx="2990088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3041"/>
                </a:solidFill>
              </a:rPr>
              <a:t>The correct QR code will be at each booth. Train the client or Affinity show representative to vet accounts before allowing them to scan.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339328" y="1737360"/>
            <a:ext cx="3429000" cy="361188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8339328" y="1737360"/>
            <a:ext cx="82296" cy="3611880"/>
          </a:xfrm>
          <a:prstGeom prst="rect">
            <a:avLst/>
          </a:prstGeom>
          <a:solidFill>
            <a:srgbClr val="2A8C6B"/>
          </a:solidFill>
          <a:ln w="12700">
            <a:solidFill>
              <a:srgbClr val="2A8C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8567928" y="1947672"/>
            <a:ext cx="2990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AFTER THE SHOW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8567928" y="2450592"/>
            <a:ext cx="2990088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53041"/>
                </a:solidFill>
              </a:rPr>
              <a:t>Track qualified requests, routing accuracy, fulfillment, conversions, and user feedback.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941832" y="56509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71622"/>
                </a:solidFill>
              </a:rPr>
              <a:t>Pilot decision gate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2697480" y="5788152"/>
            <a:ext cx="6720840" cy="1"/>
          </a:xfrm>
          <a:prstGeom prst="line">
            <a:avLst/>
          </a:prstGeom>
          <a:noFill/>
          <a:ln w="50800">
            <a:solidFill>
              <a:srgbClr val="A8BBC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0" name="Shape 17"/>
          <p:cNvSpPr/>
          <p:nvPr/>
        </p:nvSpPr>
        <p:spPr>
          <a:xfrm>
            <a:off x="9464040" y="5559552"/>
            <a:ext cx="1691640" cy="457200"/>
          </a:xfrm>
          <a:prstGeom prst="roundRect">
            <a:avLst>
              <a:gd name="adj" fmla="val 40000"/>
            </a:avLst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8"/>
          <p:cNvSpPr/>
          <p:nvPr/>
        </p:nvSpPr>
        <p:spPr>
          <a:xfrm>
            <a:off x="9582912" y="5705856"/>
            <a:ext cx="14447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SCALE OR ADJUST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2" name="Text 0"/>
          <p:cNvSpPr/>
          <p:nvPr/>
        </p:nvSpPr>
        <p:spPr>
          <a:xfrm>
            <a:off x="658368" y="658368"/>
            <a:ext cx="8138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71622"/>
                </a:solidFill>
              </a:rPr>
              <a:t>Leadership Decision Requested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76656" y="1170432"/>
            <a:ext cx="9326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97080"/>
                </a:solidFill>
              </a:rPr>
              <a:t>Approve development of a limited pilot and cross-functional feasibility review.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9555480" y="256032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" name="Image 0" descr="/mnt/data/Affinity 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347472"/>
            <a:ext cx="1325880" cy="53035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691640"/>
            <a:ext cx="6400800" cy="4160520"/>
          </a:xfrm>
          <a:prstGeom prst="roundRect">
            <a:avLst>
              <a:gd name="adj" fmla="val 2198"/>
            </a:avLst>
          </a:prstGeom>
          <a:solidFill>
            <a:srgbClr val="071622"/>
          </a:solidFill>
          <a:ln w="12700">
            <a:solidFill>
              <a:srgbClr val="071622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7" name="Text 4"/>
          <p:cNvSpPr/>
          <p:nvPr/>
        </p:nvSpPr>
        <p:spPr>
          <a:xfrm>
            <a:off x="1261872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7A1A"/>
                </a:solidFill>
              </a:rPr>
              <a:t>PROPOSED DECISION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261872" y="2606040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</a:rPr>
              <a:t>Move forward with a pilot of the QR-based food show sample request process.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1280160" y="4041648"/>
            <a:ext cx="5349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8E4EA"/>
                </a:solidFill>
              </a:rPr>
              <a:t>Validate account vetting, manufacturer item selection, distributor-based routing, automated communications, and sample-team capacity.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754112" y="1691640"/>
            <a:ext cx="35204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7754112" y="1691640"/>
            <a:ext cx="82296" cy="1115568"/>
          </a:xfrm>
          <a:prstGeom prst="rect">
            <a:avLst/>
          </a:prstGeom>
          <a:solidFill>
            <a:srgbClr val="FF7A1A"/>
          </a:solidFill>
          <a:ln w="12700">
            <a:solidFill>
              <a:srgbClr val="FF7A1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9"/>
          <p:cNvSpPr/>
          <p:nvPr/>
        </p:nvSpPr>
        <p:spPr>
          <a:xfrm>
            <a:off x="7982712" y="190195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1  |  ALIGN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7982712" y="2404872"/>
            <a:ext cx="308152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41"/>
                </a:solidFill>
              </a:rPr>
              <a:t>Leadership, sales, marketing, IT, and sample operations.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754112" y="2971800"/>
            <a:ext cx="35204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5" name="Shape 12"/>
          <p:cNvSpPr/>
          <p:nvPr/>
        </p:nvSpPr>
        <p:spPr>
          <a:xfrm>
            <a:off x="7754112" y="2971800"/>
            <a:ext cx="82296" cy="1115568"/>
          </a:xfrm>
          <a:prstGeom prst="rect">
            <a:avLst/>
          </a:prstGeom>
          <a:solidFill>
            <a:srgbClr val="2C6EAA"/>
          </a:solidFill>
          <a:ln w="12700">
            <a:solidFill>
              <a:srgbClr val="2C6EAA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3"/>
          <p:cNvSpPr/>
          <p:nvPr/>
        </p:nvSpPr>
        <p:spPr>
          <a:xfrm>
            <a:off x="7982712" y="318211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2  |  BUILD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982712" y="3685032"/>
            <a:ext cx="308152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41"/>
                </a:solidFill>
              </a:rPr>
              <a:t>Landing page, QR codes, dropdowns, routing, email, and attachments.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7754112" y="4251960"/>
            <a:ext cx="3520440" cy="1115568"/>
          </a:xfrm>
          <a:prstGeom prst="roundRect">
            <a:avLst>
              <a:gd name="adj" fmla="val 5738"/>
            </a:avLst>
          </a:prstGeom>
          <a:solidFill>
            <a:srgbClr val="FFFFFF"/>
          </a:solidFill>
          <a:ln w="12700">
            <a:solidFill>
              <a:srgbClr val="D8E2E8"/>
            </a:solidFill>
            <a:prstDash val="solid"/>
          </a:ln>
          <a:effectLst/>
        </p:spPr>
        <p:txBody>
          <a:bodyPr/>
          <a:lstStyle/>
          <a:p>
            <a:endParaRPr/>
          </a:p>
        </p:txBody>
      </p:sp>
      <p:sp>
        <p:nvSpPr>
          <p:cNvPr id="19" name="Shape 16"/>
          <p:cNvSpPr/>
          <p:nvPr/>
        </p:nvSpPr>
        <p:spPr>
          <a:xfrm>
            <a:off x="7754112" y="4251960"/>
            <a:ext cx="82296" cy="1115568"/>
          </a:xfrm>
          <a:prstGeom prst="rect">
            <a:avLst/>
          </a:prstGeom>
          <a:solidFill>
            <a:srgbClr val="2A8C6B"/>
          </a:solidFill>
          <a:ln w="12700">
            <a:solidFill>
              <a:srgbClr val="2A8C6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7"/>
          <p:cNvSpPr/>
          <p:nvPr/>
        </p:nvSpPr>
        <p:spPr>
          <a:xfrm>
            <a:off x="7982712" y="4462272"/>
            <a:ext cx="30815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71622"/>
                </a:solidFill>
              </a:rPr>
              <a:t>3  |  TEST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982712" y="4965192"/>
            <a:ext cx="3081528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53041"/>
                </a:solidFill>
              </a:rPr>
              <a:t>Run one show, review results, then scale or adjust.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2057400" y="61081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7A1A"/>
                </a:solidFill>
              </a:rPr>
              <a:t>Simple for the customer. Vetted for Affinity Group.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86032" y="6519672"/>
            <a:ext cx="201168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750">
                <a:solidFill>
                  <a:srgbClr val="71839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1041</Words>
  <Application>Microsoft Office PowerPoint</Application>
  <PresentationFormat>Widescreen</PresentationFormat>
  <Paragraphs>137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Affinity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Qualified Sample Requests at Food Shows</dc:title>
  <dc:subject>PptxGenJS Presentation</dc:subject>
  <dc:creator>Tommy Starling</dc:creator>
  <cp:lastModifiedBy>Tommy Starling</cp:lastModifiedBy>
  <cp:revision>2</cp:revision>
  <dcterms:created xsi:type="dcterms:W3CDTF">2026-09-24T01:18:10Z</dcterms:created>
  <dcterms:modified xsi:type="dcterms:W3CDTF">2026-10-02T16:10:43Z</dcterms:modified>
</cp:coreProperties>
</file>