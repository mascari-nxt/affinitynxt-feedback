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8" d="100"/>
          <a:sy n="98" d="100"/>
        </p:scale>
        <p:origin x="82"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751294" y="320040"/>
            <a:ext cx="2148839" cy="2148840"/>
          </a:xfrm>
          <a:prstGeom prst="rect">
            <a:avLst/>
          </a:prstGeom>
        </p:spPr>
      </p:pic>
      <p:pic>
        <p:nvPicPr>
          <p:cNvPr id="3" name="Picture 2" descr="image.jpg"/>
          <p:cNvPicPr>
            <a:picLocks noChangeAspect="1"/>
          </p:cNvPicPr>
          <p:nvPr/>
        </p:nvPicPr>
        <p:blipFill>
          <a:blip r:embed="rId3"/>
          <a:stretch>
            <a:fillRect/>
          </a:stretch>
        </p:blipFill>
        <p:spPr>
          <a:xfrm>
            <a:off x="3598050" y="320040"/>
            <a:ext cx="2148839" cy="2148840"/>
          </a:xfrm>
          <a:prstGeom prst="rect">
            <a:avLst/>
          </a:prstGeom>
        </p:spPr>
      </p:pic>
      <p:pic>
        <p:nvPicPr>
          <p:cNvPr id="4" name="Picture 3" descr="image.jpg"/>
          <p:cNvPicPr>
            <a:picLocks noChangeAspect="1"/>
          </p:cNvPicPr>
          <p:nvPr/>
        </p:nvPicPr>
        <p:blipFill>
          <a:blip r:embed="rId4"/>
          <a:stretch>
            <a:fillRect/>
          </a:stretch>
        </p:blipFill>
        <p:spPr>
          <a:xfrm>
            <a:off x="6444805" y="320040"/>
            <a:ext cx="2148839" cy="2148840"/>
          </a:xfrm>
          <a:prstGeom prst="rect">
            <a:avLst/>
          </a:prstGeom>
        </p:spPr>
      </p:pic>
      <p:pic>
        <p:nvPicPr>
          <p:cNvPr id="5" name="Picture 4" descr="image.jpg"/>
          <p:cNvPicPr>
            <a:picLocks noChangeAspect="1"/>
          </p:cNvPicPr>
          <p:nvPr/>
        </p:nvPicPr>
        <p:blipFill>
          <a:blip r:embed="rId5"/>
          <a:stretch>
            <a:fillRect/>
          </a:stretch>
        </p:blipFill>
        <p:spPr>
          <a:xfrm>
            <a:off x="9291561" y="320040"/>
            <a:ext cx="2148839" cy="2148840"/>
          </a:xfrm>
          <a:prstGeom prst="rect">
            <a:avLst/>
          </a:prstGeom>
        </p:spPr>
      </p:pic>
      <p:sp>
        <p:nvSpPr>
          <p:cNvPr id="6" name="TextBox 5"/>
          <p:cNvSpPr txBox="1"/>
          <p:nvPr/>
        </p:nvSpPr>
        <p:spPr>
          <a:xfrm>
            <a:off x="548640" y="2651760"/>
            <a:ext cx="11064240" cy="640080"/>
          </a:xfrm>
          <a:prstGeom prst="rect">
            <a:avLst/>
          </a:prstGeom>
          <a:noFill/>
        </p:spPr>
        <p:txBody>
          <a:bodyPr wrap="square" anchor="t"/>
          <a:lstStyle/>
          <a:p>
            <a:pPr algn="l">
              <a:defRPr sz="3200" b="1">
                <a:solidFill>
                  <a:srgbClr val="111827"/>
                </a:solidFill>
                <a:latin typeface="Calibri"/>
              </a:defRPr>
            </a:pPr>
            <a:r>
              <a:t>Honey-Jam Cafe Bolingbrook</a:t>
            </a:r>
          </a:p>
        </p:txBody>
      </p:sp>
      <p:sp>
        <p:nvSpPr>
          <p:cNvPr id="7" name="TextBox 6"/>
          <p:cNvSpPr txBox="1"/>
          <p:nvPr/>
        </p:nvSpPr>
        <p:spPr>
          <a:xfrm>
            <a:off x="548640" y="3291840"/>
            <a:ext cx="11064240" cy="320040"/>
          </a:xfrm>
          <a:prstGeom prst="rect">
            <a:avLst/>
          </a:prstGeom>
          <a:noFill/>
        </p:spPr>
        <p:txBody>
          <a:bodyPr wrap="square" anchor="t"/>
          <a:lstStyle/>
          <a:p>
            <a:pPr algn="l">
              <a:defRPr sz="1300" b="0">
                <a:solidFill>
                  <a:srgbClr val="374151"/>
                </a:solidFill>
                <a:latin typeface="Calibri"/>
              </a:defRPr>
            </a:pPr>
            <a:r>
              <a:t>120 E Boughton Rd, Bolingbrook, IL 60440 · Breakfast restaurant, Brunch restaurant · ★ 4.2 (1,517 reviews)</a:t>
            </a:r>
          </a:p>
        </p:txBody>
      </p:sp>
      <p:sp>
        <p:nvSpPr>
          <p:cNvPr id="8" name="TextBox 7"/>
          <p:cNvSpPr txBox="1"/>
          <p:nvPr/>
        </p:nvSpPr>
        <p:spPr>
          <a:xfrm>
            <a:off x="548640" y="3611880"/>
            <a:ext cx="11064240" cy="320040"/>
          </a:xfrm>
          <a:prstGeom prst="rect">
            <a:avLst/>
          </a:prstGeom>
          <a:noFill/>
        </p:spPr>
        <p:txBody>
          <a:bodyPr wrap="square" anchor="t"/>
          <a:lstStyle/>
          <a:p>
            <a:pPr algn="l">
              <a:defRPr sz="1300" b="0">
                <a:solidFill>
                  <a:srgbClr val="374151"/>
                </a:solidFill>
                <a:latin typeface="Calibri"/>
              </a:defRPr>
            </a:pPr>
            <a:r>
              <a:t>AMW - ILLINOIS · 4 concepts</a:t>
            </a:r>
          </a:p>
        </p:txBody>
      </p:sp>
      <p:sp>
        <p:nvSpPr>
          <p:cNvPr id="9" name="TextBox 8"/>
          <p:cNvSpPr txBox="1"/>
          <p:nvPr/>
        </p:nvSpPr>
        <p:spPr>
          <a:xfrm>
            <a:off x="548640" y="3959352"/>
            <a:ext cx="11064240" cy="256032"/>
          </a:xfrm>
          <a:prstGeom prst="rect">
            <a:avLst/>
          </a:prstGeom>
          <a:noFill/>
        </p:spPr>
        <p:txBody>
          <a:bodyPr wrap="square" anchor="t"/>
          <a:lstStyle/>
          <a:p>
            <a:pPr algn="l">
              <a:defRPr sz="1100" b="1">
                <a:solidFill>
                  <a:srgbClr val="EA580C"/>
                </a:solidFill>
                <a:latin typeface="Calibri"/>
              </a:defRPr>
            </a:pPr>
            <a:r>
              <a:t>Goal</a:t>
            </a:r>
          </a:p>
        </p:txBody>
      </p:sp>
      <p:sp>
        <p:nvSpPr>
          <p:cNvPr id="10" name="TextBox 9"/>
          <p:cNvSpPr txBox="1"/>
          <p:nvPr/>
        </p:nvSpPr>
        <p:spPr>
          <a:xfrm>
            <a:off x="548640" y="4197096"/>
            <a:ext cx="11064240" cy="411480"/>
          </a:xfrm>
          <a:prstGeom prst="rect">
            <a:avLst/>
          </a:prstGeom>
          <a:noFill/>
        </p:spPr>
        <p:txBody>
          <a:bodyPr wrap="square" anchor="t"/>
          <a:lstStyle/>
          <a:p>
            <a:pPr algn="l">
              <a:defRPr sz="1300" b="0">
                <a:solidFill>
                  <a:srgbClr val="374151"/>
                </a:solidFill>
                <a:latin typeface="Calibri"/>
              </a:defRPr>
            </a:pPr>
            <a:r>
              <a:t>Create a signature dish program</a:t>
            </a:r>
          </a:p>
        </p:txBody>
      </p:sp>
      <p:sp>
        <p:nvSpPr>
          <p:cNvPr id="11" name="TextBox 10"/>
          <p:cNvSpPr txBox="1"/>
          <p:nvPr/>
        </p:nvSpPr>
        <p:spPr>
          <a:xfrm>
            <a:off x="548640" y="4654296"/>
            <a:ext cx="11064240" cy="256032"/>
          </a:xfrm>
          <a:prstGeom prst="rect">
            <a:avLst/>
          </a:prstGeom>
          <a:noFill/>
        </p:spPr>
        <p:txBody>
          <a:bodyPr wrap="square" anchor="t"/>
          <a:lstStyle/>
          <a:p>
            <a:pPr algn="l">
              <a:defRPr sz="1100" b="1">
                <a:solidFill>
                  <a:srgbClr val="EA580C"/>
                </a:solidFill>
                <a:latin typeface="Calibri"/>
              </a:defRPr>
            </a:pPr>
            <a:r>
              <a:t>In this deck</a:t>
            </a:r>
          </a:p>
        </p:txBody>
      </p:sp>
      <p:sp>
        <p:nvSpPr>
          <p:cNvPr id="12" name="TextBox 11"/>
          <p:cNvSpPr txBox="1"/>
          <p:nvPr/>
        </p:nvSpPr>
        <p:spPr>
          <a:xfrm>
            <a:off x="548640" y="4910328"/>
            <a:ext cx="11064240" cy="1463040"/>
          </a:xfrm>
          <a:prstGeom prst="rect">
            <a:avLst/>
          </a:prstGeom>
          <a:noFill/>
        </p:spPr>
        <p:txBody>
          <a:bodyPr wrap="square" anchor="t"/>
          <a:lstStyle/>
          <a:p>
            <a:pPr algn="l">
              <a:defRPr sz="1300" b="0">
                <a:solidFill>
                  <a:srgbClr val="374151"/>
                </a:solidFill>
                <a:latin typeface="Calibri"/>
              </a:defRPr>
            </a:pPr>
            <a:r>
              <a:t>1. Sweet &amp; Savory Croissant Stack</a:t>
            </a:r>
            <a:br/>
            <a:r>
              <a:t>2. The Morning Harvest Lobster Skillet</a:t>
            </a:r>
            <a:br/>
            <a:r>
              <a:t>3. Golden Hour Lobster Melt</a:t>
            </a:r>
            <a:br/>
            <a:r>
              <a:t>4. The Coastal Benedict Square</a:t>
            </a:r>
          </a:p>
        </p:txBody>
      </p:sp>
      <p:sp>
        <p:nvSpPr>
          <p:cNvPr id="13" name="TextBox 12"/>
          <p:cNvSpPr txBox="1"/>
          <p:nvPr/>
        </p:nvSpPr>
        <p:spPr>
          <a:xfrm>
            <a:off x="548640" y="5989320"/>
            <a:ext cx="8686800" cy="502920"/>
          </a:xfrm>
          <a:prstGeom prst="rect">
            <a:avLst/>
          </a:prstGeom>
          <a:noFill/>
        </p:spPr>
        <p:txBody>
          <a:bodyPr wrap="square" anchor="t"/>
          <a:lstStyle/>
          <a:p>
            <a:pPr algn="l">
              <a:defRPr sz="1100" b="0">
                <a:solidFill>
                  <a:srgbClr val="6B7280"/>
                </a:solidFill>
                <a:latin typeface="Calibri"/>
              </a:defRPr>
            </a:pPr>
            <a:r>
              <a:t>Prepared by Bob Janz</a:t>
            </a:r>
            <a:br/>
            <a:r>
              <a:t>Bob.Janz@affinitysales.com · 224-410-2030</a:t>
            </a:r>
            <a:br/>
            <a:r>
              <a:t>August 21, 2026</a:t>
            </a:r>
          </a:p>
        </p:txBody>
      </p:sp>
      <p:sp>
        <p:nvSpPr>
          <p:cNvPr id="14" name="TextBox 13"/>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1 of 4</a:t>
            </a:r>
          </a:p>
        </p:txBody>
      </p:sp>
      <p:pic>
        <p:nvPicPr>
          <p:cNvPr id="3" name="Picture 2" descr="78c105ff-aa99-41be-a45a-fe6a61f5e3f1.png"/>
          <p:cNvPicPr>
            <a:picLocks noChangeAspect="1"/>
          </p:cNvPicPr>
          <p:nvPr/>
        </p:nvPicPr>
        <p:blipFill>
          <a:blip r:embed="rId2"/>
          <a:stretch>
            <a:fillRect/>
          </a:stretch>
        </p:blipFill>
        <p:spPr>
          <a:xfrm>
            <a:off x="457200" y="502920"/>
            <a:ext cx="5120640" cy="2858032"/>
          </a:xfrm>
          <a:prstGeom prst="rect">
            <a:avLst/>
          </a:prstGeom>
        </p:spPr>
      </p:pic>
      <p:sp>
        <p:nvSpPr>
          <p:cNvPr id="4" name="TextBox 3"/>
          <p:cNvSpPr txBox="1"/>
          <p:nvPr/>
        </p:nvSpPr>
        <p:spPr>
          <a:xfrm>
            <a:off x="5943600" y="502920"/>
            <a:ext cx="5669280" cy="777240"/>
          </a:xfrm>
          <a:prstGeom prst="rect">
            <a:avLst/>
          </a:prstGeom>
          <a:noFill/>
        </p:spPr>
        <p:txBody>
          <a:bodyPr wrap="square" anchor="t"/>
          <a:lstStyle/>
          <a:p>
            <a:pPr algn="l">
              <a:defRPr sz="2400" b="1">
                <a:solidFill>
                  <a:srgbClr val="111827"/>
                </a:solidFill>
                <a:latin typeface="Calibri"/>
              </a:defRPr>
            </a:pPr>
            <a:r>
              <a:t>Sweet &amp; Savory Croissant Stack</a:t>
            </a:r>
          </a:p>
        </p:txBody>
      </p:sp>
      <p:sp>
        <p:nvSpPr>
          <p:cNvPr id="5" name="TextBox 4"/>
          <p:cNvSpPr txBox="1"/>
          <p:nvPr/>
        </p:nvSpPr>
        <p:spPr>
          <a:xfrm>
            <a:off x="5943600" y="1371600"/>
            <a:ext cx="5669280" cy="1920240"/>
          </a:xfrm>
          <a:prstGeom prst="rect">
            <a:avLst/>
          </a:prstGeom>
          <a:noFill/>
        </p:spPr>
        <p:txBody>
          <a:bodyPr wrap="square" anchor="t"/>
          <a:lstStyle/>
          <a:p>
            <a:pPr algn="l">
              <a:defRPr sz="1300" b="0">
                <a:solidFill>
                  <a:srgbClr val="374151"/>
                </a:solidFill>
                <a:latin typeface="Calibri"/>
              </a:defRPr>
            </a:pPr>
            <a:r>
              <a:t>This concept plays with the versatility of the square croissant, offering a unique texture profile that bridges the gap between breakfast and lunch. It is a visually stunning dish that showcases our commitment to creative, elevated comfort food.</a:t>
            </a:r>
          </a:p>
        </p:txBody>
      </p:sp>
      <p:sp>
        <p:nvSpPr>
          <p:cNvPr id="6" name="TextBox 5"/>
          <p:cNvSpPr txBox="1"/>
          <p:nvPr/>
        </p:nvSpPr>
        <p:spPr>
          <a:xfrm>
            <a:off x="5943600" y="3429000"/>
            <a:ext cx="5669280" cy="256032"/>
          </a:xfrm>
          <a:prstGeom prst="rect">
            <a:avLst/>
          </a:prstGeom>
          <a:noFill/>
        </p:spPr>
        <p:txBody>
          <a:bodyPr wrap="square" anchor="t"/>
          <a:lstStyle/>
          <a:p>
            <a:pPr algn="l">
              <a:defRPr sz="1100" b="1">
                <a:solidFill>
                  <a:srgbClr val="EA580C"/>
                </a:solidFill>
                <a:latin typeface="Calibri"/>
              </a:defRPr>
            </a:pPr>
            <a:r>
              <a:t>Featured products</a:t>
            </a:r>
          </a:p>
        </p:txBody>
      </p:sp>
      <p:sp>
        <p:nvSpPr>
          <p:cNvPr id="7" name="TextBox 6"/>
          <p:cNvSpPr txBox="1"/>
          <p:nvPr/>
        </p:nvSpPr>
        <p:spPr>
          <a:xfrm>
            <a:off x="5943600" y="3703320"/>
            <a:ext cx="5669280" cy="1828800"/>
          </a:xfrm>
          <a:prstGeom prst="rect">
            <a:avLst/>
          </a:prstGeom>
          <a:noFill/>
        </p:spPr>
        <p:txBody>
          <a:bodyPr wrap="square" anchor="t"/>
          <a:lstStyle/>
          <a:p>
            <a:pPr algn="l">
              <a:defRPr sz="1200" b="0">
                <a:solidFill>
                  <a:srgbClr val="374151"/>
                </a:solidFill>
                <a:latin typeface="Calibri"/>
              </a:defRPr>
            </a:pPr>
            <a:r>
              <a:t>• SQUARE SANDWICH CROISSANT, SLICED  —  BAKER BOY® · SKU 32650</a:t>
            </a:r>
            <a:br/>
            <a:r>
              <a:t>• LOBSTER SENSATIONS  —  KING &amp; PRINCE · SKU 004610</a:t>
            </a:r>
          </a:p>
        </p:txBody>
      </p:sp>
      <p:sp>
        <p:nvSpPr>
          <p:cNvPr id="8" name="TextBox 7"/>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1 of 4 · Execution</a:t>
            </a:r>
          </a:p>
        </p:txBody>
      </p:sp>
      <p:sp>
        <p:nvSpPr>
          <p:cNvPr id="3" name="TextBox 2"/>
          <p:cNvSpPr txBox="1"/>
          <p:nvPr/>
        </p:nvSpPr>
        <p:spPr>
          <a:xfrm>
            <a:off x="548640" y="502920"/>
            <a:ext cx="11064240" cy="457200"/>
          </a:xfrm>
          <a:prstGeom prst="rect">
            <a:avLst/>
          </a:prstGeom>
          <a:noFill/>
        </p:spPr>
        <p:txBody>
          <a:bodyPr wrap="square" anchor="t"/>
          <a:lstStyle/>
          <a:p>
            <a:pPr algn="l">
              <a:defRPr sz="2000" b="1">
                <a:solidFill>
                  <a:srgbClr val="111827"/>
                </a:solidFill>
                <a:latin typeface="Calibri"/>
              </a:defRPr>
            </a:pPr>
            <a:r>
              <a:t>Sweet &amp; Savory Croissant Stack — Execution</a:t>
            </a:r>
          </a:p>
        </p:txBody>
      </p:sp>
      <p:sp>
        <p:nvSpPr>
          <p:cNvPr id="4" name="TextBox 3"/>
          <p:cNvSpPr txBox="1"/>
          <p:nvPr/>
        </p:nvSpPr>
        <p:spPr>
          <a:xfrm>
            <a:off x="548640" y="1051560"/>
            <a:ext cx="11064240" cy="237744"/>
          </a:xfrm>
          <a:prstGeom prst="rect">
            <a:avLst/>
          </a:prstGeom>
          <a:noFill/>
        </p:spPr>
        <p:txBody>
          <a:bodyPr wrap="square" anchor="t"/>
          <a:lstStyle/>
          <a:p>
            <a:pPr algn="l">
              <a:defRPr sz="1100" b="1">
                <a:solidFill>
                  <a:srgbClr val="EA580C"/>
                </a:solidFill>
                <a:latin typeface="Calibri"/>
              </a:defRPr>
            </a:pPr>
            <a:r>
              <a:t>Menu description</a:t>
            </a:r>
          </a:p>
        </p:txBody>
      </p:sp>
      <p:sp>
        <p:nvSpPr>
          <p:cNvPr id="5" name="TextBox 4"/>
          <p:cNvSpPr txBox="1"/>
          <p:nvPr/>
        </p:nvSpPr>
        <p:spPr>
          <a:xfrm>
            <a:off x="548640" y="1289304"/>
            <a:ext cx="11064240" cy="859536"/>
          </a:xfrm>
          <a:prstGeom prst="rect">
            <a:avLst/>
          </a:prstGeom>
          <a:noFill/>
        </p:spPr>
        <p:txBody>
          <a:bodyPr wrap="square" anchor="t"/>
          <a:lstStyle/>
          <a:p>
            <a:pPr algn="l">
              <a:defRPr sz="1200" b="0">
                <a:solidFill>
                  <a:srgbClr val="374151"/>
                </a:solidFill>
                <a:latin typeface="Calibri"/>
              </a:defRPr>
            </a:pPr>
            <a:r>
              <a:t>Our signature square croissant, lightly toasted to golden perfection and stacked high with a generous portion of premium chilled Lobster Sensations. We layer in fresh, creamy avocado, crisp peppery arugula, and a touch of house-made lemon-zest mayo for a sophisticated twist on the classic lobster roll. It’s the ultimate elevated comfort lunch, perfectly bridging the gap between brunch and afternoon cravings.</a:t>
            </a:r>
          </a:p>
        </p:txBody>
      </p:sp>
      <p:sp>
        <p:nvSpPr>
          <p:cNvPr id="6" name="TextBox 5"/>
          <p:cNvSpPr txBox="1"/>
          <p:nvPr/>
        </p:nvSpPr>
        <p:spPr>
          <a:xfrm>
            <a:off x="548640" y="2258568"/>
            <a:ext cx="11064240" cy="237744"/>
          </a:xfrm>
          <a:prstGeom prst="rect">
            <a:avLst/>
          </a:prstGeom>
          <a:noFill/>
        </p:spPr>
        <p:txBody>
          <a:bodyPr wrap="square" anchor="t"/>
          <a:lstStyle/>
          <a:p>
            <a:pPr algn="l">
              <a:defRPr sz="1100" b="1">
                <a:solidFill>
                  <a:srgbClr val="EA580C"/>
                </a:solidFill>
                <a:latin typeface="Calibri"/>
              </a:defRPr>
            </a:pPr>
            <a:r>
              <a:t>Pricing</a:t>
            </a:r>
          </a:p>
        </p:txBody>
      </p:sp>
      <p:sp>
        <p:nvSpPr>
          <p:cNvPr id="7" name="TextBox 6"/>
          <p:cNvSpPr txBox="1"/>
          <p:nvPr/>
        </p:nvSpPr>
        <p:spPr>
          <a:xfrm>
            <a:off x="548640" y="2496311"/>
            <a:ext cx="11064240" cy="658368"/>
          </a:xfrm>
          <a:prstGeom prst="rect">
            <a:avLst/>
          </a:prstGeom>
          <a:noFill/>
        </p:spPr>
        <p:txBody>
          <a:bodyPr wrap="square" anchor="t"/>
          <a:lstStyle/>
          <a:p>
            <a:pPr algn="l">
              <a:defRPr sz="1200" b="0">
                <a:solidFill>
                  <a:srgbClr val="374151"/>
                </a:solidFill>
                <a:latin typeface="Calibri"/>
              </a:defRPr>
            </a:pPr>
            <a:r>
              <a:t>Position at $16.50–$18.50. This price point maintains the Honey-Jam value proposition while reflecting the premium perception of lobster, ensuring a healthy margin given the efficiency of the ready-to-use ingredients.</a:t>
            </a:r>
          </a:p>
        </p:txBody>
      </p:sp>
      <p:sp>
        <p:nvSpPr>
          <p:cNvPr id="8" name="TextBox 7"/>
          <p:cNvSpPr txBox="1"/>
          <p:nvPr/>
        </p:nvSpPr>
        <p:spPr>
          <a:xfrm>
            <a:off x="548640" y="3264408"/>
            <a:ext cx="11064240" cy="237744"/>
          </a:xfrm>
          <a:prstGeom prst="rect">
            <a:avLst/>
          </a:prstGeom>
          <a:noFill/>
        </p:spPr>
        <p:txBody>
          <a:bodyPr wrap="square" anchor="t"/>
          <a:lstStyle/>
          <a:p>
            <a:pPr algn="l">
              <a:defRPr sz="1100" b="1">
                <a:solidFill>
                  <a:srgbClr val="EA580C"/>
                </a:solidFill>
                <a:latin typeface="Calibri"/>
              </a:defRPr>
            </a:pPr>
            <a:r>
              <a:t>Plating</a:t>
            </a:r>
          </a:p>
        </p:txBody>
      </p:sp>
      <p:sp>
        <p:nvSpPr>
          <p:cNvPr id="9" name="TextBox 8"/>
          <p:cNvSpPr txBox="1"/>
          <p:nvPr/>
        </p:nvSpPr>
        <p:spPr>
          <a:xfrm>
            <a:off x="548640" y="3502152"/>
            <a:ext cx="11064240" cy="658368"/>
          </a:xfrm>
          <a:prstGeom prst="rect">
            <a:avLst/>
          </a:prstGeom>
          <a:noFill/>
        </p:spPr>
        <p:txBody>
          <a:bodyPr wrap="square" anchor="t"/>
          <a:lstStyle/>
          <a:p>
            <a:pPr algn="l">
              <a:defRPr sz="1200" b="0">
                <a:solidFill>
                  <a:srgbClr val="374151"/>
                </a:solidFill>
                <a:latin typeface="Calibri"/>
              </a:defRPr>
            </a:pPr>
            <a:r>
              <a:t>Serve on a rectangular ceramic plate to mirror the square shape of the croissant. Place the stack slightly off-center, with a small handful of dressed arugula tossed in lemon vinaigrette tucked beside it to add height and color. Dust the plate with a light crack of fresh black pepper for a professional finish.</a:t>
            </a:r>
          </a:p>
        </p:txBody>
      </p:sp>
      <p:sp>
        <p:nvSpPr>
          <p:cNvPr id="10" name="TextBox 9"/>
          <p:cNvSpPr txBox="1"/>
          <p:nvPr/>
        </p:nvSpPr>
        <p:spPr>
          <a:xfrm>
            <a:off x="548640" y="4270248"/>
            <a:ext cx="11064240" cy="237744"/>
          </a:xfrm>
          <a:prstGeom prst="rect">
            <a:avLst/>
          </a:prstGeom>
          <a:noFill/>
        </p:spPr>
        <p:txBody>
          <a:bodyPr wrap="square" anchor="t"/>
          <a:lstStyle/>
          <a:p>
            <a:pPr algn="l">
              <a:defRPr sz="1100" b="1">
                <a:solidFill>
                  <a:srgbClr val="EA580C"/>
                </a:solidFill>
                <a:latin typeface="Calibri"/>
              </a:defRPr>
            </a:pPr>
            <a:r>
              <a:t>Prep</a:t>
            </a:r>
          </a:p>
        </p:txBody>
      </p:sp>
      <p:sp>
        <p:nvSpPr>
          <p:cNvPr id="11" name="TextBox 10"/>
          <p:cNvSpPr txBox="1"/>
          <p:nvPr/>
        </p:nvSpPr>
        <p:spPr>
          <a:xfrm>
            <a:off x="548640" y="4507992"/>
            <a:ext cx="11064240" cy="859536"/>
          </a:xfrm>
          <a:prstGeom prst="rect">
            <a:avLst/>
          </a:prstGeom>
          <a:noFill/>
        </p:spPr>
        <p:txBody>
          <a:bodyPr wrap="square" anchor="t"/>
          <a:lstStyle/>
          <a:p>
            <a:pPr algn="l">
              <a:defRPr sz="1200" b="0">
                <a:solidFill>
                  <a:srgbClr val="374151"/>
                </a:solidFill>
                <a:latin typeface="Calibri"/>
              </a:defRPr>
            </a:pPr>
            <a:r>
              <a:t>Thaw square croissants in a cool, dry place. Slice horizontally if needed. In a mixing bowl, fold Lobster Sensations with lemon-infused mayonnaise and cracked black pepper. To assemble: lightly toast the croissant halves on a flat-top grill, spread a thin layer of avocado on the base, top with a generous scoop of the lobster mixture, add a nest of arugula, and crown with the croissant top.</a:t>
            </a:r>
          </a:p>
        </p:txBody>
      </p:sp>
      <p:sp>
        <p:nvSpPr>
          <p:cNvPr id="12" name="TextBox 11"/>
          <p:cNvSpPr txBox="1"/>
          <p:nvPr/>
        </p:nvSpPr>
        <p:spPr>
          <a:xfrm>
            <a:off x="548640" y="5477256"/>
            <a:ext cx="11064240" cy="237744"/>
          </a:xfrm>
          <a:prstGeom prst="rect">
            <a:avLst/>
          </a:prstGeom>
          <a:noFill/>
        </p:spPr>
        <p:txBody>
          <a:bodyPr wrap="square" anchor="t"/>
          <a:lstStyle/>
          <a:p>
            <a:pPr algn="l">
              <a:defRPr sz="1100" b="1">
                <a:solidFill>
                  <a:srgbClr val="EA580C"/>
                </a:solidFill>
                <a:latin typeface="Calibri"/>
              </a:defRPr>
            </a:pPr>
            <a:r>
              <a:t>Portion</a:t>
            </a:r>
          </a:p>
        </p:txBody>
      </p:sp>
      <p:sp>
        <p:nvSpPr>
          <p:cNvPr id="13" name="TextBox 12"/>
          <p:cNvSpPr txBox="1"/>
          <p:nvPr/>
        </p:nvSpPr>
        <p:spPr>
          <a:xfrm>
            <a:off x="548640" y="5715000"/>
            <a:ext cx="11064240" cy="457200"/>
          </a:xfrm>
          <a:prstGeom prst="rect">
            <a:avLst/>
          </a:prstGeom>
          <a:noFill/>
        </p:spPr>
        <p:txBody>
          <a:bodyPr wrap="square" anchor="t"/>
          <a:lstStyle/>
          <a:p>
            <a:pPr algn="l">
              <a:defRPr sz="1200" b="0">
                <a:solidFill>
                  <a:srgbClr val="374151"/>
                </a:solidFill>
                <a:latin typeface="Calibri"/>
              </a:defRPr>
            </a:pPr>
            <a:r>
              <a:t>One square croissant (approx. 3.5oz) filled with 4oz of prepared lobster salad, 1/4 sliced avocado, and a 0.5oz garnish of arugula.</a:t>
            </a:r>
          </a:p>
        </p:txBody>
      </p:sp>
      <p:sp>
        <p:nvSpPr>
          <p:cNvPr id="14" name="TextBox 13"/>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1 of 4 · Execution (continued)</a:t>
            </a:r>
          </a:p>
        </p:txBody>
      </p:sp>
      <p:sp>
        <p:nvSpPr>
          <p:cNvPr id="3" name="TextBox 2"/>
          <p:cNvSpPr txBox="1"/>
          <p:nvPr/>
        </p:nvSpPr>
        <p:spPr>
          <a:xfrm>
            <a:off x="548640" y="502920"/>
            <a:ext cx="11064240" cy="457200"/>
          </a:xfrm>
          <a:prstGeom prst="rect">
            <a:avLst/>
          </a:prstGeom>
          <a:noFill/>
        </p:spPr>
        <p:txBody>
          <a:bodyPr wrap="square" anchor="t"/>
          <a:lstStyle/>
          <a:p>
            <a:pPr algn="l">
              <a:defRPr sz="2000" b="1">
                <a:solidFill>
                  <a:srgbClr val="111827"/>
                </a:solidFill>
                <a:latin typeface="Calibri"/>
              </a:defRPr>
            </a:pPr>
            <a:r>
              <a:t>Sweet &amp; Savory Croissant Stack — Execution (cont.)</a:t>
            </a:r>
          </a:p>
        </p:txBody>
      </p:sp>
      <p:sp>
        <p:nvSpPr>
          <p:cNvPr id="4" name="TextBox 3"/>
          <p:cNvSpPr txBox="1"/>
          <p:nvPr/>
        </p:nvSpPr>
        <p:spPr>
          <a:xfrm>
            <a:off x="548640" y="1051560"/>
            <a:ext cx="11064240" cy="237744"/>
          </a:xfrm>
          <a:prstGeom prst="rect">
            <a:avLst/>
          </a:prstGeom>
          <a:noFill/>
        </p:spPr>
        <p:txBody>
          <a:bodyPr wrap="square" anchor="t"/>
          <a:lstStyle/>
          <a:p>
            <a:pPr algn="l">
              <a:defRPr sz="1100" b="1">
                <a:solidFill>
                  <a:srgbClr val="EA580C"/>
                </a:solidFill>
                <a:latin typeface="Calibri"/>
              </a:defRPr>
            </a:pPr>
            <a:r>
              <a:t>Prep time</a:t>
            </a:r>
          </a:p>
        </p:txBody>
      </p:sp>
      <p:sp>
        <p:nvSpPr>
          <p:cNvPr id="5" name="TextBox 4"/>
          <p:cNvSpPr txBox="1"/>
          <p:nvPr/>
        </p:nvSpPr>
        <p:spPr>
          <a:xfrm>
            <a:off x="548640" y="1289304"/>
            <a:ext cx="11064240" cy="320040"/>
          </a:xfrm>
          <a:prstGeom prst="rect">
            <a:avLst/>
          </a:prstGeom>
          <a:noFill/>
        </p:spPr>
        <p:txBody>
          <a:bodyPr wrap="square" anchor="t"/>
          <a:lstStyle/>
          <a:p>
            <a:pPr algn="l">
              <a:defRPr sz="1200" b="0">
                <a:solidFill>
                  <a:srgbClr val="374151"/>
                </a:solidFill>
                <a:latin typeface="Calibri"/>
              </a:defRPr>
            </a:pPr>
            <a:r>
              <a:t>5 minutes per order; 15 minutes of bulk prep time for the lobster salad mix.</a:t>
            </a:r>
          </a:p>
        </p:txBody>
      </p:sp>
      <p:sp>
        <p:nvSpPr>
          <p:cNvPr id="6" name="TextBox 5"/>
          <p:cNvSpPr txBox="1"/>
          <p:nvPr/>
        </p:nvSpPr>
        <p:spPr>
          <a:xfrm>
            <a:off x="548640" y="1719072"/>
            <a:ext cx="11064240" cy="237744"/>
          </a:xfrm>
          <a:prstGeom prst="rect">
            <a:avLst/>
          </a:prstGeom>
          <a:noFill/>
        </p:spPr>
        <p:txBody>
          <a:bodyPr wrap="square" anchor="t"/>
          <a:lstStyle/>
          <a:p>
            <a:pPr algn="l">
              <a:defRPr sz="1100" b="1">
                <a:solidFill>
                  <a:srgbClr val="EA580C"/>
                </a:solidFill>
                <a:latin typeface="Calibri"/>
              </a:defRPr>
            </a:pPr>
            <a:r>
              <a:t>Equipment</a:t>
            </a:r>
          </a:p>
        </p:txBody>
      </p:sp>
      <p:sp>
        <p:nvSpPr>
          <p:cNvPr id="7" name="TextBox 6"/>
          <p:cNvSpPr txBox="1"/>
          <p:nvPr/>
        </p:nvSpPr>
        <p:spPr>
          <a:xfrm>
            <a:off x="548640" y="1956815"/>
            <a:ext cx="11064240" cy="457200"/>
          </a:xfrm>
          <a:prstGeom prst="rect">
            <a:avLst/>
          </a:prstGeom>
          <a:noFill/>
        </p:spPr>
        <p:txBody>
          <a:bodyPr wrap="square" anchor="t"/>
          <a:lstStyle/>
          <a:p>
            <a:pPr algn="l">
              <a:defRPr sz="1200" b="0">
                <a:solidFill>
                  <a:srgbClr val="374151"/>
                </a:solidFill>
                <a:latin typeface="Calibri"/>
              </a:defRPr>
            </a:pPr>
            <a:r>
              <a:t>Flat-top grill or toaster for the croissant, mixing bowls, portion scoops for consistency, serrated bread knife, and chilled storage containers.</a:t>
            </a:r>
          </a:p>
        </p:txBody>
      </p:sp>
      <p:sp>
        <p:nvSpPr>
          <p:cNvPr id="8" name="TextBox 7"/>
          <p:cNvSpPr txBox="1"/>
          <p:nvPr/>
        </p:nvSpPr>
        <p:spPr>
          <a:xfrm>
            <a:off x="548640" y="2523744"/>
            <a:ext cx="11064240" cy="237744"/>
          </a:xfrm>
          <a:prstGeom prst="rect">
            <a:avLst/>
          </a:prstGeom>
          <a:noFill/>
        </p:spPr>
        <p:txBody>
          <a:bodyPr wrap="square" anchor="t"/>
          <a:lstStyle/>
          <a:p>
            <a:pPr algn="l">
              <a:defRPr sz="1100" b="1">
                <a:solidFill>
                  <a:srgbClr val="EA580C"/>
                </a:solidFill>
                <a:latin typeface="Calibri"/>
              </a:defRPr>
            </a:pPr>
            <a:r>
              <a:t>Pairings</a:t>
            </a:r>
          </a:p>
        </p:txBody>
      </p:sp>
      <p:sp>
        <p:nvSpPr>
          <p:cNvPr id="9" name="TextBox 8"/>
          <p:cNvSpPr txBox="1"/>
          <p:nvPr/>
        </p:nvSpPr>
        <p:spPr>
          <a:xfrm>
            <a:off x="548640" y="2761487"/>
            <a:ext cx="11064240" cy="457200"/>
          </a:xfrm>
          <a:prstGeom prst="rect">
            <a:avLst/>
          </a:prstGeom>
          <a:noFill/>
        </p:spPr>
        <p:txBody>
          <a:bodyPr wrap="square" anchor="t"/>
          <a:lstStyle/>
          <a:p>
            <a:pPr algn="l">
              <a:defRPr sz="1200" b="0">
                <a:solidFill>
                  <a:srgbClr val="374151"/>
                </a:solidFill>
                <a:latin typeface="Calibri"/>
              </a:defRPr>
            </a:pPr>
            <a:r>
              <a:t>Pairs excellently with a side of house-made kettle chips or a light cucumber salad. For beverages, suggest a crisp glass of Sauvignon Blanc or a sparkling lemon-basil iced tea.</a:t>
            </a:r>
          </a:p>
        </p:txBody>
      </p:sp>
      <p:sp>
        <p:nvSpPr>
          <p:cNvPr id="10" name="TextBox 9"/>
          <p:cNvSpPr txBox="1"/>
          <p:nvPr/>
        </p:nvSpPr>
        <p:spPr>
          <a:xfrm>
            <a:off x="548640" y="3328415"/>
            <a:ext cx="11064240" cy="237744"/>
          </a:xfrm>
          <a:prstGeom prst="rect">
            <a:avLst/>
          </a:prstGeom>
          <a:noFill/>
        </p:spPr>
        <p:txBody>
          <a:bodyPr wrap="square" anchor="t"/>
          <a:lstStyle/>
          <a:p>
            <a:pPr algn="l">
              <a:defRPr sz="1100" b="1">
                <a:solidFill>
                  <a:srgbClr val="EA580C"/>
                </a:solidFill>
                <a:latin typeface="Calibri"/>
              </a:defRPr>
            </a:pPr>
            <a:r>
              <a:t>Menu position</a:t>
            </a:r>
          </a:p>
        </p:txBody>
      </p:sp>
      <p:sp>
        <p:nvSpPr>
          <p:cNvPr id="11" name="TextBox 10"/>
          <p:cNvSpPr txBox="1"/>
          <p:nvPr/>
        </p:nvSpPr>
        <p:spPr>
          <a:xfrm>
            <a:off x="548640" y="3566159"/>
            <a:ext cx="11064240" cy="320040"/>
          </a:xfrm>
          <a:prstGeom prst="rect">
            <a:avLst/>
          </a:prstGeom>
          <a:noFill/>
        </p:spPr>
        <p:txBody>
          <a:bodyPr wrap="square" anchor="t"/>
          <a:lstStyle/>
          <a:p>
            <a:pPr algn="l">
              <a:defRPr sz="1200" b="0">
                <a:solidFill>
                  <a:srgbClr val="374151"/>
                </a:solidFill>
                <a:latin typeface="Calibri"/>
              </a:defRPr>
            </a:pPr>
            <a:r>
              <a:t>entree</a:t>
            </a:r>
          </a:p>
        </p:txBody>
      </p:sp>
      <p:sp>
        <p:nvSpPr>
          <p:cNvPr id="12" name="TextBox 11"/>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2 of 4</a:t>
            </a:r>
          </a:p>
        </p:txBody>
      </p:sp>
      <p:pic>
        <p:nvPicPr>
          <p:cNvPr id="3" name="Picture 2" descr="8ee927a3-1570-4433-a21c-1116fc222f60.png"/>
          <p:cNvPicPr>
            <a:picLocks noChangeAspect="1"/>
          </p:cNvPicPr>
          <p:nvPr/>
        </p:nvPicPr>
        <p:blipFill>
          <a:blip r:embed="rId2"/>
          <a:stretch>
            <a:fillRect/>
          </a:stretch>
        </p:blipFill>
        <p:spPr>
          <a:xfrm>
            <a:off x="457200" y="502920"/>
            <a:ext cx="5120640" cy="2858032"/>
          </a:xfrm>
          <a:prstGeom prst="rect">
            <a:avLst/>
          </a:prstGeom>
        </p:spPr>
      </p:pic>
      <p:sp>
        <p:nvSpPr>
          <p:cNvPr id="4" name="TextBox 3"/>
          <p:cNvSpPr txBox="1"/>
          <p:nvPr/>
        </p:nvSpPr>
        <p:spPr>
          <a:xfrm>
            <a:off x="5943600" y="502920"/>
            <a:ext cx="5669280" cy="777240"/>
          </a:xfrm>
          <a:prstGeom prst="rect">
            <a:avLst/>
          </a:prstGeom>
          <a:noFill/>
        </p:spPr>
        <p:txBody>
          <a:bodyPr wrap="square" anchor="t"/>
          <a:lstStyle/>
          <a:p>
            <a:pPr algn="l">
              <a:defRPr sz="2400" b="1">
                <a:solidFill>
                  <a:srgbClr val="111827"/>
                </a:solidFill>
                <a:latin typeface="Calibri"/>
              </a:defRPr>
            </a:pPr>
            <a:r>
              <a:t>The Morning Harvest Lobster Skillet</a:t>
            </a:r>
          </a:p>
        </p:txBody>
      </p:sp>
      <p:sp>
        <p:nvSpPr>
          <p:cNvPr id="5" name="TextBox 4"/>
          <p:cNvSpPr txBox="1"/>
          <p:nvPr/>
        </p:nvSpPr>
        <p:spPr>
          <a:xfrm>
            <a:off x="5943600" y="1371600"/>
            <a:ext cx="5669280" cy="1920240"/>
          </a:xfrm>
          <a:prstGeom prst="rect">
            <a:avLst/>
          </a:prstGeom>
          <a:noFill/>
        </p:spPr>
        <p:txBody>
          <a:bodyPr wrap="square" anchor="t"/>
          <a:lstStyle/>
          <a:p>
            <a:pPr algn="l">
              <a:defRPr sz="1300" b="0">
                <a:solidFill>
                  <a:srgbClr val="374151"/>
                </a:solidFill>
                <a:latin typeface="Calibri"/>
              </a:defRPr>
            </a:pPr>
            <a:r>
              <a:t>We’ve taken our famous cast-iron skillet concept and infused it with the elegance of fresh lobster. This dish is designed to be a centerpiece, offering a hearty and abundant portion that satisfies the most discerning brunch enthusiasts.</a:t>
            </a:r>
          </a:p>
        </p:txBody>
      </p:sp>
      <p:sp>
        <p:nvSpPr>
          <p:cNvPr id="6" name="TextBox 5"/>
          <p:cNvSpPr txBox="1"/>
          <p:nvPr/>
        </p:nvSpPr>
        <p:spPr>
          <a:xfrm>
            <a:off x="5943600" y="3429000"/>
            <a:ext cx="5669280" cy="256032"/>
          </a:xfrm>
          <a:prstGeom prst="rect">
            <a:avLst/>
          </a:prstGeom>
          <a:noFill/>
        </p:spPr>
        <p:txBody>
          <a:bodyPr wrap="square" anchor="t"/>
          <a:lstStyle/>
          <a:p>
            <a:pPr algn="l">
              <a:defRPr sz="1100" b="1">
                <a:solidFill>
                  <a:srgbClr val="EA580C"/>
                </a:solidFill>
                <a:latin typeface="Calibri"/>
              </a:defRPr>
            </a:pPr>
            <a:r>
              <a:t>Featured products</a:t>
            </a:r>
          </a:p>
        </p:txBody>
      </p:sp>
      <p:sp>
        <p:nvSpPr>
          <p:cNvPr id="7" name="TextBox 6"/>
          <p:cNvSpPr txBox="1"/>
          <p:nvPr/>
        </p:nvSpPr>
        <p:spPr>
          <a:xfrm>
            <a:off x="5943600" y="3703320"/>
            <a:ext cx="5669280" cy="1828800"/>
          </a:xfrm>
          <a:prstGeom prst="rect">
            <a:avLst/>
          </a:prstGeom>
          <a:noFill/>
        </p:spPr>
        <p:txBody>
          <a:bodyPr wrap="square" anchor="t"/>
          <a:lstStyle/>
          <a:p>
            <a:pPr algn="l">
              <a:defRPr sz="1200" b="0">
                <a:solidFill>
                  <a:srgbClr val="374151"/>
                </a:solidFill>
                <a:latin typeface="Calibri"/>
              </a:defRPr>
            </a:pPr>
            <a:r>
              <a:t>• SQUARE SANDWICH CROISSANT, SLICED  —  BAKER BOY® · SKU 32650</a:t>
            </a:r>
            <a:br/>
            <a:r>
              <a:t>• LOBSTER SENSATIONS  —  KING &amp; PRINCE · SKU 004610</a:t>
            </a:r>
          </a:p>
        </p:txBody>
      </p:sp>
      <p:sp>
        <p:nvSpPr>
          <p:cNvPr id="8" name="TextBox 7"/>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2 of 4 · Execution</a:t>
            </a:r>
          </a:p>
        </p:txBody>
      </p:sp>
      <p:sp>
        <p:nvSpPr>
          <p:cNvPr id="3" name="TextBox 2"/>
          <p:cNvSpPr txBox="1"/>
          <p:nvPr/>
        </p:nvSpPr>
        <p:spPr>
          <a:xfrm>
            <a:off x="548640" y="502920"/>
            <a:ext cx="11064240" cy="457200"/>
          </a:xfrm>
          <a:prstGeom prst="rect">
            <a:avLst/>
          </a:prstGeom>
          <a:noFill/>
        </p:spPr>
        <p:txBody>
          <a:bodyPr wrap="square" anchor="t"/>
          <a:lstStyle/>
          <a:p>
            <a:pPr algn="l">
              <a:defRPr sz="2000" b="1">
                <a:solidFill>
                  <a:srgbClr val="111827"/>
                </a:solidFill>
                <a:latin typeface="Calibri"/>
              </a:defRPr>
            </a:pPr>
            <a:r>
              <a:t>The Morning Harvest Lobster Skillet — Execution</a:t>
            </a:r>
          </a:p>
        </p:txBody>
      </p:sp>
      <p:sp>
        <p:nvSpPr>
          <p:cNvPr id="4" name="TextBox 3"/>
          <p:cNvSpPr txBox="1"/>
          <p:nvPr/>
        </p:nvSpPr>
        <p:spPr>
          <a:xfrm>
            <a:off x="548640" y="1051560"/>
            <a:ext cx="11064240" cy="237744"/>
          </a:xfrm>
          <a:prstGeom prst="rect">
            <a:avLst/>
          </a:prstGeom>
          <a:noFill/>
        </p:spPr>
        <p:txBody>
          <a:bodyPr wrap="square" anchor="t"/>
          <a:lstStyle/>
          <a:p>
            <a:pPr algn="l">
              <a:defRPr sz="1100" b="1">
                <a:solidFill>
                  <a:srgbClr val="EA580C"/>
                </a:solidFill>
                <a:latin typeface="Calibri"/>
              </a:defRPr>
            </a:pPr>
            <a:r>
              <a:t>Menu description</a:t>
            </a:r>
          </a:p>
        </p:txBody>
      </p:sp>
      <p:sp>
        <p:nvSpPr>
          <p:cNvPr id="5" name="TextBox 4"/>
          <p:cNvSpPr txBox="1"/>
          <p:nvPr/>
        </p:nvSpPr>
        <p:spPr>
          <a:xfrm>
            <a:off x="548640" y="1289304"/>
            <a:ext cx="11064240" cy="1060704"/>
          </a:xfrm>
          <a:prstGeom prst="rect">
            <a:avLst/>
          </a:prstGeom>
          <a:noFill/>
        </p:spPr>
        <p:txBody>
          <a:bodyPr wrap="square" anchor="t"/>
          <a:lstStyle/>
          <a:p>
            <a:pPr algn="l">
              <a:defRPr sz="1200" b="0">
                <a:solidFill>
                  <a:srgbClr val="374151"/>
                </a:solidFill>
                <a:latin typeface="Calibri"/>
              </a:defRPr>
            </a:pPr>
            <a:r>
              <a:t>Elevate your brunch with the Morning Harvest Lobster Skillet—a decadent, cast-iron masterpiece featuring tender North Atlantic Lobster Sensations, crispy golden hash browns, fresh baby spinach, and vine-ripened tomatoes. Sautéed in aromatic garlic butter and finished with a generous dusting of melted parmesan, this hearty skillet is served with a side of our signature buttery, flaky square croissant for the ultimate comfort food experience.</a:t>
            </a:r>
          </a:p>
        </p:txBody>
      </p:sp>
      <p:sp>
        <p:nvSpPr>
          <p:cNvPr id="6" name="TextBox 5"/>
          <p:cNvSpPr txBox="1"/>
          <p:nvPr/>
        </p:nvSpPr>
        <p:spPr>
          <a:xfrm>
            <a:off x="548640" y="2459736"/>
            <a:ext cx="11064240" cy="237744"/>
          </a:xfrm>
          <a:prstGeom prst="rect">
            <a:avLst/>
          </a:prstGeom>
          <a:noFill/>
        </p:spPr>
        <p:txBody>
          <a:bodyPr wrap="square" anchor="t"/>
          <a:lstStyle/>
          <a:p>
            <a:pPr algn="l">
              <a:defRPr sz="1100" b="1">
                <a:solidFill>
                  <a:srgbClr val="EA580C"/>
                </a:solidFill>
                <a:latin typeface="Calibri"/>
              </a:defRPr>
            </a:pPr>
            <a:r>
              <a:t>Pricing</a:t>
            </a:r>
          </a:p>
        </p:txBody>
      </p:sp>
      <p:sp>
        <p:nvSpPr>
          <p:cNvPr id="7" name="TextBox 6"/>
          <p:cNvSpPr txBox="1"/>
          <p:nvPr/>
        </p:nvSpPr>
        <p:spPr>
          <a:xfrm>
            <a:off x="548640" y="2697480"/>
            <a:ext cx="11064240" cy="658368"/>
          </a:xfrm>
          <a:prstGeom prst="rect">
            <a:avLst/>
          </a:prstGeom>
          <a:noFill/>
        </p:spPr>
        <p:txBody>
          <a:bodyPr wrap="square" anchor="t"/>
          <a:lstStyle/>
          <a:p>
            <a:pPr algn="l">
              <a:defRPr sz="1200" b="0">
                <a:solidFill>
                  <a:srgbClr val="374151"/>
                </a:solidFill>
                <a:latin typeface="Calibri"/>
              </a:defRPr>
            </a:pPr>
            <a:r>
              <a:t>Position as a premium 'Chef's Special' item. Given the $10–20 average menu price, this should be priced at the top end of the spectrum, approximately $18.99–$19.99, to account for lobster food costs while maintaining perceived value.</a:t>
            </a:r>
          </a:p>
        </p:txBody>
      </p:sp>
      <p:sp>
        <p:nvSpPr>
          <p:cNvPr id="8" name="TextBox 7"/>
          <p:cNvSpPr txBox="1"/>
          <p:nvPr/>
        </p:nvSpPr>
        <p:spPr>
          <a:xfrm>
            <a:off x="548640" y="3465576"/>
            <a:ext cx="11064240" cy="237744"/>
          </a:xfrm>
          <a:prstGeom prst="rect">
            <a:avLst/>
          </a:prstGeom>
          <a:noFill/>
        </p:spPr>
        <p:txBody>
          <a:bodyPr wrap="square" anchor="t"/>
          <a:lstStyle/>
          <a:p>
            <a:pPr algn="l">
              <a:defRPr sz="1100" b="1">
                <a:solidFill>
                  <a:srgbClr val="EA580C"/>
                </a:solidFill>
                <a:latin typeface="Calibri"/>
              </a:defRPr>
            </a:pPr>
            <a:r>
              <a:t>Plating</a:t>
            </a:r>
          </a:p>
        </p:txBody>
      </p:sp>
      <p:sp>
        <p:nvSpPr>
          <p:cNvPr id="9" name="TextBox 8"/>
          <p:cNvSpPr txBox="1"/>
          <p:nvPr/>
        </p:nvSpPr>
        <p:spPr>
          <a:xfrm>
            <a:off x="548640" y="3703320"/>
            <a:ext cx="11064240" cy="658368"/>
          </a:xfrm>
          <a:prstGeom prst="rect">
            <a:avLst/>
          </a:prstGeom>
          <a:noFill/>
        </p:spPr>
        <p:txBody>
          <a:bodyPr wrap="square" anchor="t"/>
          <a:lstStyle/>
          <a:p>
            <a:pPr algn="l">
              <a:defRPr sz="1200" b="0">
                <a:solidFill>
                  <a:srgbClr val="374151"/>
                </a:solidFill>
                <a:latin typeface="Calibri"/>
              </a:defRPr>
            </a:pPr>
            <a:r>
              <a:t>Serve in a pre-heated 8-inch cast-iron skillet set atop a branded wooden underliner or a folded linen napkin to protect the tabletop. Garnish with a fresh sprig of parsley or chives for color contrast. Serve the square croissant on a small side plate or tucked alongside the skillet handle.</a:t>
            </a:r>
          </a:p>
        </p:txBody>
      </p:sp>
      <p:sp>
        <p:nvSpPr>
          <p:cNvPr id="10" name="TextBox 9"/>
          <p:cNvSpPr txBox="1"/>
          <p:nvPr/>
        </p:nvSpPr>
        <p:spPr>
          <a:xfrm>
            <a:off x="548640" y="4471416"/>
            <a:ext cx="11064240" cy="237744"/>
          </a:xfrm>
          <a:prstGeom prst="rect">
            <a:avLst/>
          </a:prstGeom>
          <a:noFill/>
        </p:spPr>
        <p:txBody>
          <a:bodyPr wrap="square" anchor="t"/>
          <a:lstStyle/>
          <a:p>
            <a:pPr algn="l">
              <a:defRPr sz="1100" b="1">
                <a:solidFill>
                  <a:srgbClr val="EA580C"/>
                </a:solidFill>
                <a:latin typeface="Calibri"/>
              </a:defRPr>
            </a:pPr>
            <a:r>
              <a:t>Prep</a:t>
            </a:r>
          </a:p>
        </p:txBody>
      </p:sp>
      <p:sp>
        <p:nvSpPr>
          <p:cNvPr id="11" name="TextBox 10"/>
          <p:cNvSpPr txBox="1"/>
          <p:nvPr/>
        </p:nvSpPr>
        <p:spPr>
          <a:xfrm>
            <a:off x="548640" y="4709160"/>
            <a:ext cx="11064240" cy="859536"/>
          </a:xfrm>
          <a:prstGeom prst="rect">
            <a:avLst/>
          </a:prstGeom>
          <a:noFill/>
        </p:spPr>
        <p:txBody>
          <a:bodyPr wrap="square" anchor="t"/>
          <a:lstStyle/>
          <a:p>
            <a:pPr algn="l">
              <a:defRPr sz="1200" b="0">
                <a:solidFill>
                  <a:srgbClr val="374151"/>
                </a:solidFill>
                <a:latin typeface="Calibri"/>
              </a:defRPr>
            </a:pPr>
            <a:r>
              <a:t>Pre-cook hash browns to a golden crisp. In a hot skillet, melt garlic butter and sauté spinach and tomatoes until just wilted. Fold in Lobster Sensations and hash browns, tossing gently to incorporate flavors without breaking up the lobster chunks. Top with parmesan and place under a broiler for 60 seconds to melt the cheese. Thaw croissant and lightly toast before serving.</a:t>
            </a:r>
          </a:p>
        </p:txBody>
      </p:sp>
      <p:sp>
        <p:nvSpPr>
          <p:cNvPr id="12" name="TextBox 11"/>
          <p:cNvSpPr txBox="1"/>
          <p:nvPr/>
        </p:nvSpPr>
        <p:spPr>
          <a:xfrm>
            <a:off x="548640" y="5678424"/>
            <a:ext cx="11064240" cy="237744"/>
          </a:xfrm>
          <a:prstGeom prst="rect">
            <a:avLst/>
          </a:prstGeom>
          <a:noFill/>
        </p:spPr>
        <p:txBody>
          <a:bodyPr wrap="square" anchor="t"/>
          <a:lstStyle/>
          <a:p>
            <a:pPr algn="l">
              <a:defRPr sz="1100" b="1">
                <a:solidFill>
                  <a:srgbClr val="EA580C"/>
                </a:solidFill>
                <a:latin typeface="Calibri"/>
              </a:defRPr>
            </a:pPr>
            <a:r>
              <a:t>Portion</a:t>
            </a:r>
          </a:p>
        </p:txBody>
      </p:sp>
      <p:sp>
        <p:nvSpPr>
          <p:cNvPr id="13" name="TextBox 12"/>
          <p:cNvSpPr txBox="1"/>
          <p:nvPr/>
        </p:nvSpPr>
        <p:spPr>
          <a:xfrm>
            <a:off x="548640" y="5916168"/>
            <a:ext cx="11064240" cy="320040"/>
          </a:xfrm>
          <a:prstGeom prst="rect">
            <a:avLst/>
          </a:prstGeom>
          <a:noFill/>
        </p:spPr>
        <p:txBody>
          <a:bodyPr wrap="square" anchor="t"/>
          <a:lstStyle/>
          <a:p>
            <a:pPr algn="l">
              <a:defRPr sz="1200" b="0">
                <a:solidFill>
                  <a:srgbClr val="374151"/>
                </a:solidFill>
                <a:latin typeface="Calibri"/>
              </a:defRPr>
            </a:pPr>
            <a:r>
              <a:t>Standard 8-inch cast-iron skillet serving;</a:t>
            </a:r>
          </a:p>
        </p:txBody>
      </p:sp>
      <p:sp>
        <p:nvSpPr>
          <p:cNvPr id="14" name="TextBox 13"/>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2 of 4 · Execution (continued)</a:t>
            </a:r>
          </a:p>
        </p:txBody>
      </p:sp>
      <p:sp>
        <p:nvSpPr>
          <p:cNvPr id="3" name="TextBox 2"/>
          <p:cNvSpPr txBox="1"/>
          <p:nvPr/>
        </p:nvSpPr>
        <p:spPr>
          <a:xfrm>
            <a:off x="548640" y="502920"/>
            <a:ext cx="11064240" cy="457200"/>
          </a:xfrm>
          <a:prstGeom prst="rect">
            <a:avLst/>
          </a:prstGeom>
          <a:noFill/>
        </p:spPr>
        <p:txBody>
          <a:bodyPr wrap="square" anchor="t"/>
          <a:lstStyle/>
          <a:p>
            <a:pPr algn="l">
              <a:defRPr sz="2000" b="1">
                <a:solidFill>
                  <a:srgbClr val="111827"/>
                </a:solidFill>
                <a:latin typeface="Calibri"/>
              </a:defRPr>
            </a:pPr>
            <a:r>
              <a:t>The Morning Harvest Lobster Skillet — Execution (cont.)</a:t>
            </a:r>
          </a:p>
        </p:txBody>
      </p:sp>
      <p:sp>
        <p:nvSpPr>
          <p:cNvPr id="4" name="TextBox 3"/>
          <p:cNvSpPr txBox="1"/>
          <p:nvPr/>
        </p:nvSpPr>
        <p:spPr>
          <a:xfrm>
            <a:off x="548640" y="1051560"/>
            <a:ext cx="11064240" cy="237744"/>
          </a:xfrm>
          <a:prstGeom prst="rect">
            <a:avLst/>
          </a:prstGeom>
          <a:noFill/>
        </p:spPr>
        <p:txBody>
          <a:bodyPr wrap="square" anchor="t"/>
          <a:lstStyle/>
          <a:p>
            <a:pPr algn="l">
              <a:defRPr sz="1100" b="1">
                <a:solidFill>
                  <a:srgbClr val="EA580C"/>
                </a:solidFill>
                <a:latin typeface="Calibri"/>
              </a:defRPr>
            </a:pPr>
            <a:r>
              <a:t>Portion (cont.)</a:t>
            </a:r>
          </a:p>
        </p:txBody>
      </p:sp>
      <p:sp>
        <p:nvSpPr>
          <p:cNvPr id="5" name="TextBox 4"/>
          <p:cNvSpPr txBox="1"/>
          <p:nvPr/>
        </p:nvSpPr>
        <p:spPr>
          <a:xfrm>
            <a:off x="548640" y="1289304"/>
            <a:ext cx="11064240" cy="457200"/>
          </a:xfrm>
          <a:prstGeom prst="rect">
            <a:avLst/>
          </a:prstGeom>
          <a:noFill/>
        </p:spPr>
        <p:txBody>
          <a:bodyPr wrap="square" anchor="t"/>
          <a:lstStyle/>
          <a:p>
            <a:pPr algn="l">
              <a:defRPr sz="1200" b="0">
                <a:solidFill>
                  <a:srgbClr val="374151"/>
                </a:solidFill>
                <a:latin typeface="Calibri"/>
              </a:defRPr>
            </a:pPr>
            <a:r>
              <a:t>4 oz Lobster Sensations blend, 6 oz seasoned hash browns, 1 cup fresh spinach, 2 oz cherry tomatoes, 1 square croissant.</a:t>
            </a:r>
          </a:p>
        </p:txBody>
      </p:sp>
      <p:sp>
        <p:nvSpPr>
          <p:cNvPr id="6" name="TextBox 5"/>
          <p:cNvSpPr txBox="1"/>
          <p:nvPr/>
        </p:nvSpPr>
        <p:spPr>
          <a:xfrm>
            <a:off x="548640" y="1856231"/>
            <a:ext cx="11064240" cy="237744"/>
          </a:xfrm>
          <a:prstGeom prst="rect">
            <a:avLst/>
          </a:prstGeom>
          <a:noFill/>
        </p:spPr>
        <p:txBody>
          <a:bodyPr wrap="square" anchor="t"/>
          <a:lstStyle/>
          <a:p>
            <a:pPr algn="l">
              <a:defRPr sz="1100" b="1">
                <a:solidFill>
                  <a:srgbClr val="EA580C"/>
                </a:solidFill>
                <a:latin typeface="Calibri"/>
              </a:defRPr>
            </a:pPr>
            <a:r>
              <a:t>Prep time</a:t>
            </a:r>
          </a:p>
        </p:txBody>
      </p:sp>
      <p:sp>
        <p:nvSpPr>
          <p:cNvPr id="7" name="TextBox 6"/>
          <p:cNvSpPr txBox="1"/>
          <p:nvPr/>
        </p:nvSpPr>
        <p:spPr>
          <a:xfrm>
            <a:off x="548640" y="2093976"/>
            <a:ext cx="11064240" cy="320040"/>
          </a:xfrm>
          <a:prstGeom prst="rect">
            <a:avLst/>
          </a:prstGeom>
          <a:noFill/>
        </p:spPr>
        <p:txBody>
          <a:bodyPr wrap="square" anchor="t"/>
          <a:lstStyle/>
          <a:p>
            <a:pPr algn="l">
              <a:defRPr sz="1200" b="0">
                <a:solidFill>
                  <a:srgbClr val="374151"/>
                </a:solidFill>
                <a:latin typeface="Calibri"/>
              </a:defRPr>
            </a:pPr>
            <a:r>
              <a:t>Total prep and cook time: 8–10 minutes per order.</a:t>
            </a:r>
          </a:p>
        </p:txBody>
      </p:sp>
      <p:sp>
        <p:nvSpPr>
          <p:cNvPr id="8" name="TextBox 7"/>
          <p:cNvSpPr txBox="1"/>
          <p:nvPr/>
        </p:nvSpPr>
        <p:spPr>
          <a:xfrm>
            <a:off x="548640" y="2523744"/>
            <a:ext cx="11064240" cy="237744"/>
          </a:xfrm>
          <a:prstGeom prst="rect">
            <a:avLst/>
          </a:prstGeom>
          <a:noFill/>
        </p:spPr>
        <p:txBody>
          <a:bodyPr wrap="square" anchor="t"/>
          <a:lstStyle/>
          <a:p>
            <a:pPr algn="l">
              <a:defRPr sz="1100" b="1">
                <a:solidFill>
                  <a:srgbClr val="EA580C"/>
                </a:solidFill>
                <a:latin typeface="Calibri"/>
              </a:defRPr>
            </a:pPr>
            <a:r>
              <a:t>Equipment</a:t>
            </a:r>
          </a:p>
        </p:txBody>
      </p:sp>
      <p:sp>
        <p:nvSpPr>
          <p:cNvPr id="9" name="TextBox 8"/>
          <p:cNvSpPr txBox="1"/>
          <p:nvPr/>
        </p:nvSpPr>
        <p:spPr>
          <a:xfrm>
            <a:off x="548640" y="2761487"/>
            <a:ext cx="11064240" cy="457200"/>
          </a:xfrm>
          <a:prstGeom prst="rect">
            <a:avLst/>
          </a:prstGeom>
          <a:noFill/>
        </p:spPr>
        <p:txBody>
          <a:bodyPr wrap="square" anchor="t"/>
          <a:lstStyle/>
          <a:p>
            <a:pPr algn="l">
              <a:defRPr sz="1200" b="0">
                <a:solidFill>
                  <a:srgbClr val="374151"/>
                </a:solidFill>
                <a:latin typeface="Calibri"/>
              </a:defRPr>
            </a:pPr>
            <a:r>
              <a:t>8-inch cast-iron skillets, flat-top griddle (for hash browns), salamander or broiler (for finishing), wooden underliners, standard kitchen prep tools.</a:t>
            </a:r>
          </a:p>
        </p:txBody>
      </p:sp>
      <p:sp>
        <p:nvSpPr>
          <p:cNvPr id="10" name="TextBox 9"/>
          <p:cNvSpPr txBox="1"/>
          <p:nvPr/>
        </p:nvSpPr>
        <p:spPr>
          <a:xfrm>
            <a:off x="548640" y="3328415"/>
            <a:ext cx="11064240" cy="237744"/>
          </a:xfrm>
          <a:prstGeom prst="rect">
            <a:avLst/>
          </a:prstGeom>
          <a:noFill/>
        </p:spPr>
        <p:txBody>
          <a:bodyPr wrap="square" anchor="t"/>
          <a:lstStyle/>
          <a:p>
            <a:pPr algn="l">
              <a:defRPr sz="1100" b="1">
                <a:solidFill>
                  <a:srgbClr val="EA580C"/>
                </a:solidFill>
                <a:latin typeface="Calibri"/>
              </a:defRPr>
            </a:pPr>
            <a:r>
              <a:t>Pairings</a:t>
            </a:r>
          </a:p>
        </p:txBody>
      </p:sp>
      <p:sp>
        <p:nvSpPr>
          <p:cNvPr id="11" name="TextBox 10"/>
          <p:cNvSpPr txBox="1"/>
          <p:nvPr/>
        </p:nvSpPr>
        <p:spPr>
          <a:xfrm>
            <a:off x="548640" y="3566159"/>
            <a:ext cx="11064240" cy="457200"/>
          </a:xfrm>
          <a:prstGeom prst="rect">
            <a:avLst/>
          </a:prstGeom>
          <a:noFill/>
        </p:spPr>
        <p:txBody>
          <a:bodyPr wrap="square" anchor="t"/>
          <a:lstStyle/>
          <a:p>
            <a:pPr algn="l">
              <a:defRPr sz="1200" b="0">
                <a:solidFill>
                  <a:srgbClr val="374151"/>
                </a:solidFill>
                <a:latin typeface="Calibri"/>
              </a:defRPr>
            </a:pPr>
            <a:r>
              <a:t>Pairs excellently with a chilled glass of Prosecco, a crisp Mimosa, or a bright, acidic house-made lemonade to balance the richness of the garlic butter.</a:t>
            </a:r>
          </a:p>
        </p:txBody>
      </p:sp>
      <p:sp>
        <p:nvSpPr>
          <p:cNvPr id="12" name="TextBox 11"/>
          <p:cNvSpPr txBox="1"/>
          <p:nvPr/>
        </p:nvSpPr>
        <p:spPr>
          <a:xfrm>
            <a:off x="548640" y="4133087"/>
            <a:ext cx="11064240" cy="237744"/>
          </a:xfrm>
          <a:prstGeom prst="rect">
            <a:avLst/>
          </a:prstGeom>
          <a:noFill/>
        </p:spPr>
        <p:txBody>
          <a:bodyPr wrap="square" anchor="t"/>
          <a:lstStyle/>
          <a:p>
            <a:pPr algn="l">
              <a:defRPr sz="1100" b="1">
                <a:solidFill>
                  <a:srgbClr val="EA580C"/>
                </a:solidFill>
                <a:latin typeface="Calibri"/>
              </a:defRPr>
            </a:pPr>
            <a:r>
              <a:t>Menu position</a:t>
            </a:r>
          </a:p>
        </p:txBody>
      </p:sp>
      <p:sp>
        <p:nvSpPr>
          <p:cNvPr id="13" name="TextBox 12"/>
          <p:cNvSpPr txBox="1"/>
          <p:nvPr/>
        </p:nvSpPr>
        <p:spPr>
          <a:xfrm>
            <a:off x="548640" y="4370831"/>
            <a:ext cx="11064240" cy="320040"/>
          </a:xfrm>
          <a:prstGeom prst="rect">
            <a:avLst/>
          </a:prstGeom>
          <a:noFill/>
        </p:spPr>
        <p:txBody>
          <a:bodyPr wrap="square" anchor="t"/>
          <a:lstStyle/>
          <a:p>
            <a:pPr algn="l">
              <a:defRPr sz="1200" b="0">
                <a:solidFill>
                  <a:srgbClr val="374151"/>
                </a:solidFill>
                <a:latin typeface="Calibri"/>
              </a:defRPr>
            </a:pPr>
            <a:r>
              <a:t>entree</a:t>
            </a:r>
          </a:p>
        </p:txBody>
      </p:sp>
      <p:sp>
        <p:nvSpPr>
          <p:cNvPr id="14" name="TextBox 13"/>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3 of 4</a:t>
            </a:r>
          </a:p>
        </p:txBody>
      </p:sp>
      <p:pic>
        <p:nvPicPr>
          <p:cNvPr id="3" name="Picture 2" descr="106ded52-4e14-42d9-96d1-0aadd4a24f16.png"/>
          <p:cNvPicPr>
            <a:picLocks noChangeAspect="1"/>
          </p:cNvPicPr>
          <p:nvPr/>
        </p:nvPicPr>
        <p:blipFill>
          <a:blip r:embed="rId2"/>
          <a:stretch>
            <a:fillRect/>
          </a:stretch>
        </p:blipFill>
        <p:spPr>
          <a:xfrm>
            <a:off x="457200" y="502920"/>
            <a:ext cx="5120640" cy="2858032"/>
          </a:xfrm>
          <a:prstGeom prst="rect">
            <a:avLst/>
          </a:prstGeom>
        </p:spPr>
      </p:pic>
      <p:sp>
        <p:nvSpPr>
          <p:cNvPr id="4" name="TextBox 3"/>
          <p:cNvSpPr txBox="1"/>
          <p:nvPr/>
        </p:nvSpPr>
        <p:spPr>
          <a:xfrm>
            <a:off x="5943600" y="502920"/>
            <a:ext cx="5669280" cy="777240"/>
          </a:xfrm>
          <a:prstGeom prst="rect">
            <a:avLst/>
          </a:prstGeom>
          <a:noFill/>
        </p:spPr>
        <p:txBody>
          <a:bodyPr wrap="square" anchor="t"/>
          <a:lstStyle/>
          <a:p>
            <a:pPr algn="l">
              <a:defRPr sz="2400" b="1">
                <a:solidFill>
                  <a:srgbClr val="111827"/>
                </a:solidFill>
                <a:latin typeface="Calibri"/>
              </a:defRPr>
            </a:pPr>
            <a:r>
              <a:t>Golden Hour Lobster Melt</a:t>
            </a:r>
          </a:p>
        </p:txBody>
      </p:sp>
      <p:sp>
        <p:nvSpPr>
          <p:cNvPr id="5" name="TextBox 4"/>
          <p:cNvSpPr txBox="1"/>
          <p:nvPr/>
        </p:nvSpPr>
        <p:spPr>
          <a:xfrm>
            <a:off x="5943600" y="1371600"/>
            <a:ext cx="5669280" cy="1920240"/>
          </a:xfrm>
          <a:prstGeom prst="rect">
            <a:avLst/>
          </a:prstGeom>
          <a:noFill/>
        </p:spPr>
        <p:txBody>
          <a:bodyPr wrap="square" anchor="t"/>
          <a:lstStyle/>
          <a:p>
            <a:pPr algn="l">
              <a:defRPr sz="1300" b="0">
                <a:solidFill>
                  <a:srgbClr val="374151"/>
                </a:solidFill>
                <a:latin typeface="Calibri"/>
              </a:defRPr>
            </a:pPr>
            <a:r>
              <a:t>This sophisticated take on a grilled cheese transforms lunch into a gourmet affair using our signature square croissant. It highlights the premium quality of our seafood blend while maintaining the comforting, high-value appeal that our Bolingbrook regulars love.</a:t>
            </a:r>
          </a:p>
        </p:txBody>
      </p:sp>
      <p:sp>
        <p:nvSpPr>
          <p:cNvPr id="6" name="TextBox 5"/>
          <p:cNvSpPr txBox="1"/>
          <p:nvPr/>
        </p:nvSpPr>
        <p:spPr>
          <a:xfrm>
            <a:off x="5943600" y="3429000"/>
            <a:ext cx="5669280" cy="256032"/>
          </a:xfrm>
          <a:prstGeom prst="rect">
            <a:avLst/>
          </a:prstGeom>
          <a:noFill/>
        </p:spPr>
        <p:txBody>
          <a:bodyPr wrap="square" anchor="t"/>
          <a:lstStyle/>
          <a:p>
            <a:pPr algn="l">
              <a:defRPr sz="1100" b="1">
                <a:solidFill>
                  <a:srgbClr val="EA580C"/>
                </a:solidFill>
                <a:latin typeface="Calibri"/>
              </a:defRPr>
            </a:pPr>
            <a:r>
              <a:t>Featured products</a:t>
            </a:r>
          </a:p>
        </p:txBody>
      </p:sp>
      <p:sp>
        <p:nvSpPr>
          <p:cNvPr id="7" name="TextBox 6"/>
          <p:cNvSpPr txBox="1"/>
          <p:nvPr/>
        </p:nvSpPr>
        <p:spPr>
          <a:xfrm>
            <a:off x="5943600" y="3703320"/>
            <a:ext cx="5669280" cy="1828800"/>
          </a:xfrm>
          <a:prstGeom prst="rect">
            <a:avLst/>
          </a:prstGeom>
          <a:noFill/>
        </p:spPr>
        <p:txBody>
          <a:bodyPr wrap="square" anchor="t"/>
          <a:lstStyle/>
          <a:p>
            <a:pPr algn="l">
              <a:defRPr sz="1200" b="0">
                <a:solidFill>
                  <a:srgbClr val="374151"/>
                </a:solidFill>
                <a:latin typeface="Calibri"/>
              </a:defRPr>
            </a:pPr>
            <a:r>
              <a:t>• SQUARE SANDWICH CROISSANT, SLICED  —  BAKER BOY® · SKU 32650</a:t>
            </a:r>
            <a:br/>
            <a:r>
              <a:t>• LOBSTER SENSATIONS  —  KING &amp; PRINCE · SKU 004610</a:t>
            </a:r>
          </a:p>
        </p:txBody>
      </p:sp>
      <p:sp>
        <p:nvSpPr>
          <p:cNvPr id="8" name="TextBox 7"/>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3 of 4 · Execution</a:t>
            </a:r>
          </a:p>
        </p:txBody>
      </p:sp>
      <p:sp>
        <p:nvSpPr>
          <p:cNvPr id="3" name="TextBox 2"/>
          <p:cNvSpPr txBox="1"/>
          <p:nvPr/>
        </p:nvSpPr>
        <p:spPr>
          <a:xfrm>
            <a:off x="548640" y="502920"/>
            <a:ext cx="11064240" cy="457200"/>
          </a:xfrm>
          <a:prstGeom prst="rect">
            <a:avLst/>
          </a:prstGeom>
          <a:noFill/>
        </p:spPr>
        <p:txBody>
          <a:bodyPr wrap="square" anchor="t"/>
          <a:lstStyle/>
          <a:p>
            <a:pPr algn="l">
              <a:defRPr sz="2000" b="1">
                <a:solidFill>
                  <a:srgbClr val="111827"/>
                </a:solidFill>
                <a:latin typeface="Calibri"/>
              </a:defRPr>
            </a:pPr>
            <a:r>
              <a:t>Golden Hour Lobster Melt — Execution</a:t>
            </a:r>
          </a:p>
        </p:txBody>
      </p:sp>
      <p:sp>
        <p:nvSpPr>
          <p:cNvPr id="4" name="TextBox 3"/>
          <p:cNvSpPr txBox="1"/>
          <p:nvPr/>
        </p:nvSpPr>
        <p:spPr>
          <a:xfrm>
            <a:off x="548640" y="1051560"/>
            <a:ext cx="11064240" cy="237744"/>
          </a:xfrm>
          <a:prstGeom prst="rect">
            <a:avLst/>
          </a:prstGeom>
          <a:noFill/>
        </p:spPr>
        <p:txBody>
          <a:bodyPr wrap="square" anchor="t"/>
          <a:lstStyle/>
          <a:p>
            <a:pPr algn="l">
              <a:defRPr sz="1100" b="1">
                <a:solidFill>
                  <a:srgbClr val="EA580C"/>
                </a:solidFill>
                <a:latin typeface="Calibri"/>
              </a:defRPr>
            </a:pPr>
            <a:r>
              <a:t>Menu description</a:t>
            </a:r>
          </a:p>
        </p:txBody>
      </p:sp>
      <p:sp>
        <p:nvSpPr>
          <p:cNvPr id="5" name="TextBox 4"/>
          <p:cNvSpPr txBox="1"/>
          <p:nvPr/>
        </p:nvSpPr>
        <p:spPr>
          <a:xfrm>
            <a:off x="548640" y="1289304"/>
            <a:ext cx="11064240" cy="859536"/>
          </a:xfrm>
          <a:prstGeom prst="rect">
            <a:avLst/>
          </a:prstGeom>
          <a:noFill/>
        </p:spPr>
        <p:txBody>
          <a:bodyPr wrap="square" anchor="t"/>
          <a:lstStyle/>
          <a:p>
            <a:pPr algn="l">
              <a:defRPr sz="1200" b="0">
                <a:solidFill>
                  <a:srgbClr val="374151"/>
                </a:solidFill>
                <a:latin typeface="Calibri"/>
              </a:defRPr>
            </a:pPr>
            <a:r>
              <a:t>Elevate your lunch with the Golden Hour Lobster Melt. We take our signature buttery, flaky square croissant and griddle it to golden perfection, stuffing it with a decadent blend of North Atlantic lobster and premium surimi, melted havarti cheese, and a hint of fresh herbs. Served alongside our signature crispy hash browns, it’s the ultimate gourmet comfort classic.</a:t>
            </a:r>
          </a:p>
        </p:txBody>
      </p:sp>
      <p:sp>
        <p:nvSpPr>
          <p:cNvPr id="6" name="TextBox 5"/>
          <p:cNvSpPr txBox="1"/>
          <p:nvPr/>
        </p:nvSpPr>
        <p:spPr>
          <a:xfrm>
            <a:off x="548640" y="2258568"/>
            <a:ext cx="11064240" cy="237744"/>
          </a:xfrm>
          <a:prstGeom prst="rect">
            <a:avLst/>
          </a:prstGeom>
          <a:noFill/>
        </p:spPr>
        <p:txBody>
          <a:bodyPr wrap="square" anchor="t"/>
          <a:lstStyle/>
          <a:p>
            <a:pPr algn="l">
              <a:defRPr sz="1100" b="1">
                <a:solidFill>
                  <a:srgbClr val="EA580C"/>
                </a:solidFill>
                <a:latin typeface="Calibri"/>
              </a:defRPr>
            </a:pPr>
            <a:r>
              <a:t>Pricing</a:t>
            </a:r>
          </a:p>
        </p:txBody>
      </p:sp>
      <p:sp>
        <p:nvSpPr>
          <p:cNvPr id="7" name="TextBox 6"/>
          <p:cNvSpPr txBox="1"/>
          <p:nvPr/>
        </p:nvSpPr>
        <p:spPr>
          <a:xfrm>
            <a:off x="548640" y="2496311"/>
            <a:ext cx="11064240" cy="457200"/>
          </a:xfrm>
          <a:prstGeom prst="rect">
            <a:avLst/>
          </a:prstGeom>
          <a:noFill/>
        </p:spPr>
        <p:txBody>
          <a:bodyPr wrap="square" anchor="t"/>
          <a:lstStyle/>
          <a:p>
            <a:pPr algn="l">
              <a:defRPr sz="1200" b="0">
                <a:solidFill>
                  <a:srgbClr val="374151"/>
                </a:solidFill>
                <a:latin typeface="Calibri"/>
              </a:defRPr>
            </a:pPr>
            <a:r>
              <a:t>Recommended price point of $17.95–$18.95 to maintain a strong perceived value while protecting margins on premium lobster ingredients.</a:t>
            </a:r>
          </a:p>
        </p:txBody>
      </p:sp>
      <p:sp>
        <p:nvSpPr>
          <p:cNvPr id="8" name="TextBox 7"/>
          <p:cNvSpPr txBox="1"/>
          <p:nvPr/>
        </p:nvSpPr>
        <p:spPr>
          <a:xfrm>
            <a:off x="548640" y="3063239"/>
            <a:ext cx="11064240" cy="237744"/>
          </a:xfrm>
          <a:prstGeom prst="rect">
            <a:avLst/>
          </a:prstGeom>
          <a:noFill/>
        </p:spPr>
        <p:txBody>
          <a:bodyPr wrap="square" anchor="t"/>
          <a:lstStyle/>
          <a:p>
            <a:pPr algn="l">
              <a:defRPr sz="1100" b="1">
                <a:solidFill>
                  <a:srgbClr val="EA580C"/>
                </a:solidFill>
                <a:latin typeface="Calibri"/>
              </a:defRPr>
            </a:pPr>
            <a:r>
              <a:t>Plating</a:t>
            </a:r>
          </a:p>
        </p:txBody>
      </p:sp>
      <p:sp>
        <p:nvSpPr>
          <p:cNvPr id="9" name="TextBox 8"/>
          <p:cNvSpPr txBox="1"/>
          <p:nvPr/>
        </p:nvSpPr>
        <p:spPr>
          <a:xfrm>
            <a:off x="548640" y="3300983"/>
            <a:ext cx="11064240" cy="658368"/>
          </a:xfrm>
          <a:prstGeom prst="rect">
            <a:avLst/>
          </a:prstGeom>
          <a:noFill/>
        </p:spPr>
        <p:txBody>
          <a:bodyPr wrap="square" anchor="t"/>
          <a:lstStyle/>
          <a:p>
            <a:pPr algn="l">
              <a:defRPr sz="1200" b="0">
                <a:solidFill>
                  <a:srgbClr val="374151"/>
                </a:solidFill>
                <a:latin typeface="Calibri"/>
              </a:defRPr>
            </a:pPr>
            <a:r>
              <a:t>Serve on a rectangular ceramic platter or a rustic wooden board. Place the lobster melt on one side, cut diagonally to show the cheese pull and lobster texture. Arrange a generous portion of crispy hash browns in a small cast-iron ramekin or neatly piled alongside to maintain the Honey-Jam Cafe aesthetic.</a:t>
            </a:r>
          </a:p>
        </p:txBody>
      </p:sp>
      <p:sp>
        <p:nvSpPr>
          <p:cNvPr id="10" name="TextBox 9"/>
          <p:cNvSpPr txBox="1"/>
          <p:nvPr/>
        </p:nvSpPr>
        <p:spPr>
          <a:xfrm>
            <a:off x="548640" y="4069079"/>
            <a:ext cx="11064240" cy="237744"/>
          </a:xfrm>
          <a:prstGeom prst="rect">
            <a:avLst/>
          </a:prstGeom>
          <a:noFill/>
        </p:spPr>
        <p:txBody>
          <a:bodyPr wrap="square" anchor="t"/>
          <a:lstStyle/>
          <a:p>
            <a:pPr algn="l">
              <a:defRPr sz="1100" b="1">
                <a:solidFill>
                  <a:srgbClr val="EA580C"/>
                </a:solidFill>
                <a:latin typeface="Calibri"/>
              </a:defRPr>
            </a:pPr>
            <a:r>
              <a:t>Prep</a:t>
            </a:r>
          </a:p>
        </p:txBody>
      </p:sp>
      <p:sp>
        <p:nvSpPr>
          <p:cNvPr id="11" name="TextBox 10"/>
          <p:cNvSpPr txBox="1"/>
          <p:nvPr/>
        </p:nvSpPr>
        <p:spPr>
          <a:xfrm>
            <a:off x="548640" y="4306823"/>
            <a:ext cx="11064240" cy="859536"/>
          </a:xfrm>
          <a:prstGeom prst="rect">
            <a:avLst/>
          </a:prstGeom>
          <a:noFill/>
        </p:spPr>
        <p:txBody>
          <a:bodyPr wrap="square" anchor="t"/>
          <a:lstStyle/>
          <a:p>
            <a:pPr algn="l">
              <a:defRPr sz="1200" b="0">
                <a:solidFill>
                  <a:srgbClr val="374151"/>
                </a:solidFill>
                <a:latin typeface="Calibri"/>
              </a:defRPr>
            </a:pPr>
            <a:r>
              <a:t>1. Thaw square croissants. 2. Prepare lobster sensation mix with fresh herbs (chives/dill) and a light touch of aioli. 3. Butter the cut sides of the croissant. 4. Build the sandwich with a generous scoop of lobster blend and two slices of havarti. 5. Grill on a flat-top or buttered cast-iron skillet until the croissant is golden brown and cheese is fully melted.</a:t>
            </a:r>
          </a:p>
        </p:txBody>
      </p:sp>
      <p:sp>
        <p:nvSpPr>
          <p:cNvPr id="12" name="TextBox 11"/>
          <p:cNvSpPr txBox="1"/>
          <p:nvPr/>
        </p:nvSpPr>
        <p:spPr>
          <a:xfrm>
            <a:off x="548640" y="5276088"/>
            <a:ext cx="11064240" cy="237744"/>
          </a:xfrm>
          <a:prstGeom prst="rect">
            <a:avLst/>
          </a:prstGeom>
          <a:noFill/>
        </p:spPr>
        <p:txBody>
          <a:bodyPr wrap="square" anchor="t"/>
          <a:lstStyle/>
          <a:p>
            <a:pPr algn="l">
              <a:defRPr sz="1100" b="1">
                <a:solidFill>
                  <a:srgbClr val="EA580C"/>
                </a:solidFill>
                <a:latin typeface="Calibri"/>
              </a:defRPr>
            </a:pPr>
            <a:r>
              <a:t>Portion</a:t>
            </a:r>
          </a:p>
        </p:txBody>
      </p:sp>
      <p:sp>
        <p:nvSpPr>
          <p:cNvPr id="13" name="TextBox 12"/>
          <p:cNvSpPr txBox="1"/>
          <p:nvPr/>
        </p:nvSpPr>
        <p:spPr>
          <a:xfrm>
            <a:off x="548640" y="5513831"/>
            <a:ext cx="11064240" cy="320040"/>
          </a:xfrm>
          <a:prstGeom prst="rect">
            <a:avLst/>
          </a:prstGeom>
          <a:noFill/>
        </p:spPr>
        <p:txBody>
          <a:bodyPr wrap="square" anchor="t"/>
          <a:lstStyle/>
          <a:p>
            <a:pPr algn="l">
              <a:defRPr sz="1200" b="0">
                <a:solidFill>
                  <a:srgbClr val="374151"/>
                </a:solidFill>
                <a:latin typeface="Calibri"/>
              </a:defRPr>
            </a:pPr>
            <a:r>
              <a:t>1 square croissant (approx. 4x4 inches), 4 oz lobster blend, 2 slices havarti, 5 oz hash browns.</a:t>
            </a:r>
          </a:p>
        </p:txBody>
      </p:sp>
      <p:sp>
        <p:nvSpPr>
          <p:cNvPr id="14" name="TextBox 13"/>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3 of 4 · Execution (continued)</a:t>
            </a:r>
          </a:p>
        </p:txBody>
      </p:sp>
      <p:sp>
        <p:nvSpPr>
          <p:cNvPr id="3" name="TextBox 2"/>
          <p:cNvSpPr txBox="1"/>
          <p:nvPr/>
        </p:nvSpPr>
        <p:spPr>
          <a:xfrm>
            <a:off x="548640" y="502920"/>
            <a:ext cx="11064240" cy="457200"/>
          </a:xfrm>
          <a:prstGeom prst="rect">
            <a:avLst/>
          </a:prstGeom>
          <a:noFill/>
        </p:spPr>
        <p:txBody>
          <a:bodyPr wrap="square" anchor="t"/>
          <a:lstStyle/>
          <a:p>
            <a:pPr algn="l">
              <a:defRPr sz="2000" b="1">
                <a:solidFill>
                  <a:srgbClr val="111827"/>
                </a:solidFill>
                <a:latin typeface="Calibri"/>
              </a:defRPr>
            </a:pPr>
            <a:r>
              <a:t>Golden Hour Lobster Melt — Execution (cont.)</a:t>
            </a:r>
          </a:p>
        </p:txBody>
      </p:sp>
      <p:sp>
        <p:nvSpPr>
          <p:cNvPr id="4" name="TextBox 3"/>
          <p:cNvSpPr txBox="1"/>
          <p:nvPr/>
        </p:nvSpPr>
        <p:spPr>
          <a:xfrm>
            <a:off x="548640" y="1051560"/>
            <a:ext cx="11064240" cy="237744"/>
          </a:xfrm>
          <a:prstGeom prst="rect">
            <a:avLst/>
          </a:prstGeom>
          <a:noFill/>
        </p:spPr>
        <p:txBody>
          <a:bodyPr wrap="square" anchor="t"/>
          <a:lstStyle/>
          <a:p>
            <a:pPr algn="l">
              <a:defRPr sz="1100" b="1">
                <a:solidFill>
                  <a:srgbClr val="EA580C"/>
                </a:solidFill>
                <a:latin typeface="Calibri"/>
              </a:defRPr>
            </a:pPr>
            <a:r>
              <a:t>Prep time</a:t>
            </a:r>
          </a:p>
        </p:txBody>
      </p:sp>
      <p:sp>
        <p:nvSpPr>
          <p:cNvPr id="5" name="TextBox 4"/>
          <p:cNvSpPr txBox="1"/>
          <p:nvPr/>
        </p:nvSpPr>
        <p:spPr>
          <a:xfrm>
            <a:off x="548640" y="1289304"/>
            <a:ext cx="11064240" cy="320040"/>
          </a:xfrm>
          <a:prstGeom prst="rect">
            <a:avLst/>
          </a:prstGeom>
          <a:noFill/>
        </p:spPr>
        <p:txBody>
          <a:bodyPr wrap="square" anchor="t"/>
          <a:lstStyle/>
          <a:p>
            <a:pPr algn="l">
              <a:defRPr sz="1200" b="0">
                <a:solidFill>
                  <a:srgbClr val="374151"/>
                </a:solidFill>
                <a:latin typeface="Calibri"/>
              </a:defRPr>
            </a:pPr>
            <a:r>
              <a:t>8-10 minutes from order to plate.</a:t>
            </a:r>
          </a:p>
        </p:txBody>
      </p:sp>
      <p:sp>
        <p:nvSpPr>
          <p:cNvPr id="6" name="TextBox 5"/>
          <p:cNvSpPr txBox="1"/>
          <p:nvPr/>
        </p:nvSpPr>
        <p:spPr>
          <a:xfrm>
            <a:off x="548640" y="1719072"/>
            <a:ext cx="11064240" cy="237744"/>
          </a:xfrm>
          <a:prstGeom prst="rect">
            <a:avLst/>
          </a:prstGeom>
          <a:noFill/>
        </p:spPr>
        <p:txBody>
          <a:bodyPr wrap="square" anchor="t"/>
          <a:lstStyle/>
          <a:p>
            <a:pPr algn="l">
              <a:defRPr sz="1100" b="1">
                <a:solidFill>
                  <a:srgbClr val="EA580C"/>
                </a:solidFill>
                <a:latin typeface="Calibri"/>
              </a:defRPr>
            </a:pPr>
            <a:r>
              <a:t>Equipment</a:t>
            </a:r>
          </a:p>
        </p:txBody>
      </p:sp>
      <p:sp>
        <p:nvSpPr>
          <p:cNvPr id="7" name="TextBox 6"/>
          <p:cNvSpPr txBox="1"/>
          <p:nvPr/>
        </p:nvSpPr>
        <p:spPr>
          <a:xfrm>
            <a:off x="548640" y="1956815"/>
            <a:ext cx="11064240" cy="457200"/>
          </a:xfrm>
          <a:prstGeom prst="rect">
            <a:avLst/>
          </a:prstGeom>
          <a:noFill/>
        </p:spPr>
        <p:txBody>
          <a:bodyPr wrap="square" anchor="t"/>
          <a:lstStyle/>
          <a:p>
            <a:pPr algn="l">
              <a:defRPr sz="1200" b="0">
                <a:solidFill>
                  <a:srgbClr val="374151"/>
                </a:solidFill>
                <a:latin typeface="Calibri"/>
              </a:defRPr>
            </a:pPr>
            <a:r>
              <a:t>Flat-top griddle or cast-iron skillet, serrated knife, portion scoop (4 oz), heat-resistant spatula, serving platter.</a:t>
            </a:r>
          </a:p>
        </p:txBody>
      </p:sp>
      <p:sp>
        <p:nvSpPr>
          <p:cNvPr id="8" name="TextBox 7"/>
          <p:cNvSpPr txBox="1"/>
          <p:nvPr/>
        </p:nvSpPr>
        <p:spPr>
          <a:xfrm>
            <a:off x="548640" y="2523744"/>
            <a:ext cx="11064240" cy="237744"/>
          </a:xfrm>
          <a:prstGeom prst="rect">
            <a:avLst/>
          </a:prstGeom>
          <a:noFill/>
        </p:spPr>
        <p:txBody>
          <a:bodyPr wrap="square" anchor="t"/>
          <a:lstStyle/>
          <a:p>
            <a:pPr algn="l">
              <a:defRPr sz="1100" b="1">
                <a:solidFill>
                  <a:srgbClr val="EA580C"/>
                </a:solidFill>
                <a:latin typeface="Calibri"/>
              </a:defRPr>
            </a:pPr>
            <a:r>
              <a:t>Pairings</a:t>
            </a:r>
          </a:p>
        </p:txBody>
      </p:sp>
      <p:sp>
        <p:nvSpPr>
          <p:cNvPr id="9" name="TextBox 8"/>
          <p:cNvSpPr txBox="1"/>
          <p:nvPr/>
        </p:nvSpPr>
        <p:spPr>
          <a:xfrm>
            <a:off x="548640" y="2761487"/>
            <a:ext cx="11064240" cy="457200"/>
          </a:xfrm>
          <a:prstGeom prst="rect">
            <a:avLst/>
          </a:prstGeom>
          <a:noFill/>
        </p:spPr>
        <p:txBody>
          <a:bodyPr wrap="square" anchor="t"/>
          <a:lstStyle/>
          <a:p>
            <a:pPr algn="l">
              <a:defRPr sz="1200" b="0">
                <a:solidFill>
                  <a:srgbClr val="374151"/>
                </a:solidFill>
                <a:latin typeface="Calibri"/>
              </a:defRPr>
            </a:pPr>
            <a:r>
              <a:t>Pairs excellently with a crisp Sauvignon Blanc, a chilled cucumber-infused sparkling water, or a side of creamy tomato basil soup to lean into the 'elevated comfort' theme.</a:t>
            </a:r>
          </a:p>
        </p:txBody>
      </p:sp>
      <p:sp>
        <p:nvSpPr>
          <p:cNvPr id="10" name="TextBox 9"/>
          <p:cNvSpPr txBox="1"/>
          <p:nvPr/>
        </p:nvSpPr>
        <p:spPr>
          <a:xfrm>
            <a:off x="548640" y="3328415"/>
            <a:ext cx="11064240" cy="237744"/>
          </a:xfrm>
          <a:prstGeom prst="rect">
            <a:avLst/>
          </a:prstGeom>
          <a:noFill/>
        </p:spPr>
        <p:txBody>
          <a:bodyPr wrap="square" anchor="t"/>
          <a:lstStyle/>
          <a:p>
            <a:pPr algn="l">
              <a:defRPr sz="1100" b="1">
                <a:solidFill>
                  <a:srgbClr val="EA580C"/>
                </a:solidFill>
                <a:latin typeface="Calibri"/>
              </a:defRPr>
            </a:pPr>
            <a:r>
              <a:t>Menu position</a:t>
            </a:r>
          </a:p>
        </p:txBody>
      </p:sp>
      <p:sp>
        <p:nvSpPr>
          <p:cNvPr id="11" name="TextBox 10"/>
          <p:cNvSpPr txBox="1"/>
          <p:nvPr/>
        </p:nvSpPr>
        <p:spPr>
          <a:xfrm>
            <a:off x="548640" y="3566159"/>
            <a:ext cx="11064240" cy="320040"/>
          </a:xfrm>
          <a:prstGeom prst="rect">
            <a:avLst/>
          </a:prstGeom>
          <a:noFill/>
        </p:spPr>
        <p:txBody>
          <a:bodyPr wrap="square" anchor="t"/>
          <a:lstStyle/>
          <a:p>
            <a:pPr algn="l">
              <a:defRPr sz="1200" b="0">
                <a:solidFill>
                  <a:srgbClr val="374151"/>
                </a:solidFill>
                <a:latin typeface="Calibri"/>
              </a:defRPr>
            </a:pPr>
            <a:r>
              <a:t>entree</a:t>
            </a:r>
          </a:p>
        </p:txBody>
      </p:sp>
      <p:sp>
        <p:nvSpPr>
          <p:cNvPr id="12" name="TextBox 11"/>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4 of 4</a:t>
            </a:r>
          </a:p>
        </p:txBody>
      </p:sp>
      <p:pic>
        <p:nvPicPr>
          <p:cNvPr id="3" name="Picture 2" descr="ce60334b-4a97-4583-9dda-a6f07a26665a.png"/>
          <p:cNvPicPr>
            <a:picLocks noChangeAspect="1"/>
          </p:cNvPicPr>
          <p:nvPr/>
        </p:nvPicPr>
        <p:blipFill>
          <a:blip r:embed="rId2"/>
          <a:stretch>
            <a:fillRect/>
          </a:stretch>
        </p:blipFill>
        <p:spPr>
          <a:xfrm>
            <a:off x="457200" y="502920"/>
            <a:ext cx="5120640" cy="2858032"/>
          </a:xfrm>
          <a:prstGeom prst="rect">
            <a:avLst/>
          </a:prstGeom>
        </p:spPr>
      </p:pic>
      <p:sp>
        <p:nvSpPr>
          <p:cNvPr id="4" name="TextBox 3"/>
          <p:cNvSpPr txBox="1"/>
          <p:nvPr/>
        </p:nvSpPr>
        <p:spPr>
          <a:xfrm>
            <a:off x="5943600" y="502920"/>
            <a:ext cx="5669280" cy="777240"/>
          </a:xfrm>
          <a:prstGeom prst="rect">
            <a:avLst/>
          </a:prstGeom>
          <a:noFill/>
        </p:spPr>
        <p:txBody>
          <a:bodyPr wrap="square" anchor="t"/>
          <a:lstStyle/>
          <a:p>
            <a:pPr algn="l">
              <a:defRPr sz="2400" b="1">
                <a:solidFill>
                  <a:srgbClr val="111827"/>
                </a:solidFill>
                <a:latin typeface="Calibri"/>
              </a:defRPr>
            </a:pPr>
            <a:r>
              <a:t>The Coastal Benedict Square</a:t>
            </a:r>
          </a:p>
        </p:txBody>
      </p:sp>
      <p:sp>
        <p:nvSpPr>
          <p:cNvPr id="5" name="TextBox 4"/>
          <p:cNvSpPr txBox="1"/>
          <p:nvPr/>
        </p:nvSpPr>
        <p:spPr>
          <a:xfrm>
            <a:off x="5943600" y="1371600"/>
            <a:ext cx="5669280" cy="1920240"/>
          </a:xfrm>
          <a:prstGeom prst="rect">
            <a:avLst/>
          </a:prstGeom>
          <a:noFill/>
        </p:spPr>
        <p:txBody>
          <a:bodyPr wrap="square" anchor="t"/>
          <a:lstStyle/>
          <a:p>
            <a:pPr algn="l">
              <a:defRPr sz="1300" b="0">
                <a:solidFill>
                  <a:srgbClr val="374151"/>
                </a:solidFill>
                <a:latin typeface="Calibri"/>
              </a:defRPr>
            </a:pPr>
            <a:r>
              <a:t>A decadent brunch twist that elevates the classic benedict by swapping the English muffin for a buttery, flaky square croissant. This dish brings a touch of luxury to the neighborhood cafe experience, perfect for guests seeking a substantial and indulgent start to their weekend.</a:t>
            </a:r>
          </a:p>
        </p:txBody>
      </p:sp>
      <p:sp>
        <p:nvSpPr>
          <p:cNvPr id="6" name="TextBox 5"/>
          <p:cNvSpPr txBox="1"/>
          <p:nvPr/>
        </p:nvSpPr>
        <p:spPr>
          <a:xfrm>
            <a:off x="5943600" y="3429000"/>
            <a:ext cx="5669280" cy="256032"/>
          </a:xfrm>
          <a:prstGeom prst="rect">
            <a:avLst/>
          </a:prstGeom>
          <a:noFill/>
        </p:spPr>
        <p:txBody>
          <a:bodyPr wrap="square" anchor="t"/>
          <a:lstStyle/>
          <a:p>
            <a:pPr algn="l">
              <a:defRPr sz="1100" b="1">
                <a:solidFill>
                  <a:srgbClr val="EA580C"/>
                </a:solidFill>
                <a:latin typeface="Calibri"/>
              </a:defRPr>
            </a:pPr>
            <a:r>
              <a:t>Featured products</a:t>
            </a:r>
          </a:p>
        </p:txBody>
      </p:sp>
      <p:sp>
        <p:nvSpPr>
          <p:cNvPr id="7" name="TextBox 6"/>
          <p:cNvSpPr txBox="1"/>
          <p:nvPr/>
        </p:nvSpPr>
        <p:spPr>
          <a:xfrm>
            <a:off x="5943600" y="3703320"/>
            <a:ext cx="5669280" cy="1828800"/>
          </a:xfrm>
          <a:prstGeom prst="rect">
            <a:avLst/>
          </a:prstGeom>
          <a:noFill/>
        </p:spPr>
        <p:txBody>
          <a:bodyPr wrap="square" anchor="t"/>
          <a:lstStyle/>
          <a:p>
            <a:pPr algn="l">
              <a:defRPr sz="1200" b="0">
                <a:solidFill>
                  <a:srgbClr val="374151"/>
                </a:solidFill>
                <a:latin typeface="Calibri"/>
              </a:defRPr>
            </a:pPr>
            <a:r>
              <a:t>• SQUARE SANDWICH CROISSANT, SLICED  —  BAKER BOY® · SKU 32650</a:t>
            </a:r>
            <a:br/>
            <a:r>
              <a:t>• LOBSTER SENSATIONS  —  KING &amp; PRINCE · SKU 004610</a:t>
            </a:r>
          </a:p>
        </p:txBody>
      </p:sp>
      <p:sp>
        <p:nvSpPr>
          <p:cNvPr id="8" name="TextBox 7"/>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4 of 4 · Execution</a:t>
            </a:r>
          </a:p>
        </p:txBody>
      </p:sp>
      <p:sp>
        <p:nvSpPr>
          <p:cNvPr id="3" name="TextBox 2"/>
          <p:cNvSpPr txBox="1"/>
          <p:nvPr/>
        </p:nvSpPr>
        <p:spPr>
          <a:xfrm>
            <a:off x="548640" y="502920"/>
            <a:ext cx="11064240" cy="457200"/>
          </a:xfrm>
          <a:prstGeom prst="rect">
            <a:avLst/>
          </a:prstGeom>
          <a:noFill/>
        </p:spPr>
        <p:txBody>
          <a:bodyPr wrap="square" anchor="t"/>
          <a:lstStyle/>
          <a:p>
            <a:pPr algn="l">
              <a:defRPr sz="2000" b="1">
                <a:solidFill>
                  <a:srgbClr val="111827"/>
                </a:solidFill>
                <a:latin typeface="Calibri"/>
              </a:defRPr>
            </a:pPr>
            <a:r>
              <a:t>The Coastal Benedict Square — Execution</a:t>
            </a:r>
          </a:p>
        </p:txBody>
      </p:sp>
      <p:sp>
        <p:nvSpPr>
          <p:cNvPr id="4" name="TextBox 3"/>
          <p:cNvSpPr txBox="1"/>
          <p:nvPr/>
        </p:nvSpPr>
        <p:spPr>
          <a:xfrm>
            <a:off x="548640" y="1051560"/>
            <a:ext cx="11064240" cy="237744"/>
          </a:xfrm>
          <a:prstGeom prst="rect">
            <a:avLst/>
          </a:prstGeom>
          <a:noFill/>
        </p:spPr>
        <p:txBody>
          <a:bodyPr wrap="square" anchor="t"/>
          <a:lstStyle/>
          <a:p>
            <a:pPr algn="l">
              <a:defRPr sz="1100" b="1">
                <a:solidFill>
                  <a:srgbClr val="EA580C"/>
                </a:solidFill>
                <a:latin typeface="Calibri"/>
              </a:defRPr>
            </a:pPr>
            <a:r>
              <a:t>Menu description</a:t>
            </a:r>
          </a:p>
        </p:txBody>
      </p:sp>
      <p:sp>
        <p:nvSpPr>
          <p:cNvPr id="5" name="TextBox 4"/>
          <p:cNvSpPr txBox="1"/>
          <p:nvPr/>
        </p:nvSpPr>
        <p:spPr>
          <a:xfrm>
            <a:off x="548640" y="1289304"/>
            <a:ext cx="11064240" cy="859536"/>
          </a:xfrm>
          <a:prstGeom prst="rect">
            <a:avLst/>
          </a:prstGeom>
          <a:noFill/>
        </p:spPr>
        <p:txBody>
          <a:bodyPr wrap="square" anchor="t"/>
          <a:lstStyle/>
          <a:p>
            <a:pPr algn="l">
              <a:defRPr sz="1200" b="0">
                <a:solidFill>
                  <a:srgbClr val="374151"/>
                </a:solidFill>
                <a:latin typeface="Calibri"/>
              </a:defRPr>
            </a:pPr>
            <a:r>
              <a:t>Our signature Coastal Benedict Square takes indulgence to the next level. We start with a buttery, flaky square croissant, toasted to perfection and topped with a generous portion of premium Lobster Sensations and two perfectly poached eggs. Finished with a velvety lemon-chive hollandaise, this elevated brunch classic brings a touch of coastal luxury to your neighborhood table.</a:t>
            </a:r>
          </a:p>
        </p:txBody>
      </p:sp>
      <p:sp>
        <p:nvSpPr>
          <p:cNvPr id="6" name="TextBox 5"/>
          <p:cNvSpPr txBox="1"/>
          <p:nvPr/>
        </p:nvSpPr>
        <p:spPr>
          <a:xfrm>
            <a:off x="548640" y="2258568"/>
            <a:ext cx="11064240" cy="237744"/>
          </a:xfrm>
          <a:prstGeom prst="rect">
            <a:avLst/>
          </a:prstGeom>
          <a:noFill/>
        </p:spPr>
        <p:txBody>
          <a:bodyPr wrap="square" anchor="t"/>
          <a:lstStyle/>
          <a:p>
            <a:pPr algn="l">
              <a:defRPr sz="1100" b="1">
                <a:solidFill>
                  <a:srgbClr val="EA580C"/>
                </a:solidFill>
                <a:latin typeface="Calibri"/>
              </a:defRPr>
            </a:pPr>
            <a:r>
              <a:t>Pricing</a:t>
            </a:r>
          </a:p>
        </p:txBody>
      </p:sp>
      <p:sp>
        <p:nvSpPr>
          <p:cNvPr id="7" name="TextBox 6"/>
          <p:cNvSpPr txBox="1"/>
          <p:nvPr/>
        </p:nvSpPr>
        <p:spPr>
          <a:xfrm>
            <a:off x="548640" y="2496311"/>
            <a:ext cx="11064240" cy="658368"/>
          </a:xfrm>
          <a:prstGeom prst="rect">
            <a:avLst/>
          </a:prstGeom>
          <a:noFill/>
        </p:spPr>
        <p:txBody>
          <a:bodyPr wrap="square" anchor="t"/>
          <a:lstStyle/>
          <a:p>
            <a:pPr algn="l">
              <a:defRPr sz="1200" b="0">
                <a:solidFill>
                  <a:srgbClr val="374151"/>
                </a:solidFill>
                <a:latin typeface="Calibri"/>
              </a:defRPr>
            </a:pPr>
            <a:r>
              <a:t>Recommended price point of $17.95–$19.95. This maintains the 'sweet spot' value perception while accounting for the high-cost protein (lobster blend) and the premium nature of the square croissant, ensuring a healthy contribution margin.</a:t>
            </a:r>
          </a:p>
        </p:txBody>
      </p:sp>
      <p:sp>
        <p:nvSpPr>
          <p:cNvPr id="8" name="TextBox 7"/>
          <p:cNvSpPr txBox="1"/>
          <p:nvPr/>
        </p:nvSpPr>
        <p:spPr>
          <a:xfrm>
            <a:off x="548640" y="3264408"/>
            <a:ext cx="11064240" cy="237744"/>
          </a:xfrm>
          <a:prstGeom prst="rect">
            <a:avLst/>
          </a:prstGeom>
          <a:noFill/>
        </p:spPr>
        <p:txBody>
          <a:bodyPr wrap="square" anchor="t"/>
          <a:lstStyle/>
          <a:p>
            <a:pPr algn="l">
              <a:defRPr sz="1100" b="1">
                <a:solidFill>
                  <a:srgbClr val="EA580C"/>
                </a:solidFill>
                <a:latin typeface="Calibri"/>
              </a:defRPr>
            </a:pPr>
            <a:r>
              <a:t>Plating</a:t>
            </a:r>
          </a:p>
        </p:txBody>
      </p:sp>
      <p:sp>
        <p:nvSpPr>
          <p:cNvPr id="9" name="TextBox 8"/>
          <p:cNvSpPr txBox="1"/>
          <p:nvPr/>
        </p:nvSpPr>
        <p:spPr>
          <a:xfrm>
            <a:off x="548640" y="3502152"/>
            <a:ext cx="11064240" cy="859536"/>
          </a:xfrm>
          <a:prstGeom prst="rect">
            <a:avLst/>
          </a:prstGeom>
          <a:noFill/>
        </p:spPr>
        <p:txBody>
          <a:bodyPr wrap="square" anchor="t"/>
          <a:lstStyle/>
          <a:p>
            <a:pPr algn="l">
              <a:defRPr sz="1200" b="0">
                <a:solidFill>
                  <a:srgbClr val="374151"/>
                </a:solidFill>
                <a:latin typeface="Calibri"/>
              </a:defRPr>
            </a:pPr>
            <a:r>
              <a:t>Serve on a warm, rectangular stoneware plate to complement the square croissant shape. Place the croissant halves slightly offset. Drizzle the hollandaise generously over the poached eggs, allowing it to pool slightly on the plate. Garnish with a vibrant sprinkle of fresh-cut chives and a light dusting of paprika or lemon zest for visual pop.</a:t>
            </a:r>
          </a:p>
        </p:txBody>
      </p:sp>
      <p:sp>
        <p:nvSpPr>
          <p:cNvPr id="10" name="TextBox 9"/>
          <p:cNvSpPr txBox="1"/>
          <p:nvPr/>
        </p:nvSpPr>
        <p:spPr>
          <a:xfrm>
            <a:off x="548640" y="4471416"/>
            <a:ext cx="11064240" cy="237744"/>
          </a:xfrm>
          <a:prstGeom prst="rect">
            <a:avLst/>
          </a:prstGeom>
          <a:noFill/>
        </p:spPr>
        <p:txBody>
          <a:bodyPr wrap="square" anchor="t"/>
          <a:lstStyle/>
          <a:p>
            <a:pPr algn="l">
              <a:defRPr sz="1100" b="1">
                <a:solidFill>
                  <a:srgbClr val="EA580C"/>
                </a:solidFill>
                <a:latin typeface="Calibri"/>
              </a:defRPr>
            </a:pPr>
            <a:r>
              <a:t>Prep</a:t>
            </a:r>
          </a:p>
        </p:txBody>
      </p:sp>
      <p:sp>
        <p:nvSpPr>
          <p:cNvPr id="11" name="TextBox 10"/>
          <p:cNvSpPr txBox="1"/>
          <p:nvPr/>
        </p:nvSpPr>
        <p:spPr>
          <a:xfrm>
            <a:off x="548640" y="4709159"/>
            <a:ext cx="11064240" cy="1060704"/>
          </a:xfrm>
          <a:prstGeom prst="rect">
            <a:avLst/>
          </a:prstGeom>
          <a:noFill/>
        </p:spPr>
        <p:txBody>
          <a:bodyPr wrap="square" anchor="t"/>
          <a:lstStyle/>
          <a:p>
            <a:pPr algn="l">
              <a:defRPr sz="1200" b="0">
                <a:solidFill>
                  <a:srgbClr val="374151"/>
                </a:solidFill>
                <a:latin typeface="Calibri"/>
              </a:defRPr>
            </a:pPr>
            <a:r>
              <a:t>Thaw square croissants under refrigeration. Slice horizontally and toast lightly on a flat-top or in a convection oven to ensure the center stays soft while the exterior is crisp. Warm Lobster Sensations gently in a butter-lemon emulsion. Poach eggs to order. Assemble by layering the lobster on the bottom croissant half, adding the eggs, and ladling the warm hollandaise over the top before closing with the top half of the croissant.</a:t>
            </a:r>
          </a:p>
        </p:txBody>
      </p:sp>
      <p:sp>
        <p:nvSpPr>
          <p:cNvPr id="12" name="TextBox 11"/>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1064240" cy="256032"/>
          </a:xfrm>
          <a:prstGeom prst="rect">
            <a:avLst/>
          </a:prstGeom>
          <a:noFill/>
        </p:spPr>
        <p:txBody>
          <a:bodyPr wrap="square" anchor="t"/>
          <a:lstStyle/>
          <a:p>
            <a:pPr algn="l">
              <a:defRPr sz="1100" b="0">
                <a:solidFill>
                  <a:srgbClr val="6B7280"/>
                </a:solidFill>
                <a:latin typeface="Calibri"/>
              </a:defRPr>
            </a:pPr>
            <a:r>
              <a:t>Concept 4 of 4 · Execution (continued)</a:t>
            </a:r>
          </a:p>
        </p:txBody>
      </p:sp>
      <p:sp>
        <p:nvSpPr>
          <p:cNvPr id="3" name="TextBox 2"/>
          <p:cNvSpPr txBox="1"/>
          <p:nvPr/>
        </p:nvSpPr>
        <p:spPr>
          <a:xfrm>
            <a:off x="548640" y="502920"/>
            <a:ext cx="11064240" cy="457200"/>
          </a:xfrm>
          <a:prstGeom prst="rect">
            <a:avLst/>
          </a:prstGeom>
          <a:noFill/>
        </p:spPr>
        <p:txBody>
          <a:bodyPr wrap="square" anchor="t"/>
          <a:lstStyle/>
          <a:p>
            <a:pPr algn="l">
              <a:defRPr sz="2000" b="1">
                <a:solidFill>
                  <a:srgbClr val="111827"/>
                </a:solidFill>
                <a:latin typeface="Calibri"/>
              </a:defRPr>
            </a:pPr>
            <a:r>
              <a:t>The Coastal Benedict Square — Execution (cont.)</a:t>
            </a:r>
          </a:p>
        </p:txBody>
      </p:sp>
      <p:sp>
        <p:nvSpPr>
          <p:cNvPr id="4" name="TextBox 3"/>
          <p:cNvSpPr txBox="1"/>
          <p:nvPr/>
        </p:nvSpPr>
        <p:spPr>
          <a:xfrm>
            <a:off x="548640" y="1051560"/>
            <a:ext cx="11064240" cy="237744"/>
          </a:xfrm>
          <a:prstGeom prst="rect">
            <a:avLst/>
          </a:prstGeom>
          <a:noFill/>
        </p:spPr>
        <p:txBody>
          <a:bodyPr wrap="square" anchor="t"/>
          <a:lstStyle/>
          <a:p>
            <a:pPr algn="l">
              <a:defRPr sz="1100" b="1">
                <a:solidFill>
                  <a:srgbClr val="EA580C"/>
                </a:solidFill>
                <a:latin typeface="Calibri"/>
              </a:defRPr>
            </a:pPr>
            <a:r>
              <a:t>Portion</a:t>
            </a:r>
          </a:p>
        </p:txBody>
      </p:sp>
      <p:sp>
        <p:nvSpPr>
          <p:cNvPr id="5" name="TextBox 4"/>
          <p:cNvSpPr txBox="1"/>
          <p:nvPr/>
        </p:nvSpPr>
        <p:spPr>
          <a:xfrm>
            <a:off x="548640" y="1289304"/>
            <a:ext cx="11064240" cy="320040"/>
          </a:xfrm>
          <a:prstGeom prst="rect">
            <a:avLst/>
          </a:prstGeom>
          <a:noFill/>
        </p:spPr>
        <p:txBody>
          <a:bodyPr wrap="square" anchor="t"/>
          <a:lstStyle/>
          <a:p>
            <a:pPr algn="l">
              <a:defRPr sz="1200" b="0">
                <a:solidFill>
                  <a:srgbClr val="374151"/>
                </a:solidFill>
                <a:latin typeface="Calibri"/>
              </a:defRPr>
            </a:pPr>
            <a:r>
              <a:t>1 square croissant (split), 3.5 oz Lobster Sensations, 2 large poached eggs, 2 oz hollandaise sauce.</a:t>
            </a:r>
          </a:p>
        </p:txBody>
      </p:sp>
      <p:sp>
        <p:nvSpPr>
          <p:cNvPr id="6" name="TextBox 5"/>
          <p:cNvSpPr txBox="1"/>
          <p:nvPr/>
        </p:nvSpPr>
        <p:spPr>
          <a:xfrm>
            <a:off x="548640" y="1719072"/>
            <a:ext cx="11064240" cy="237744"/>
          </a:xfrm>
          <a:prstGeom prst="rect">
            <a:avLst/>
          </a:prstGeom>
          <a:noFill/>
        </p:spPr>
        <p:txBody>
          <a:bodyPr wrap="square" anchor="t"/>
          <a:lstStyle/>
          <a:p>
            <a:pPr algn="l">
              <a:defRPr sz="1100" b="1">
                <a:solidFill>
                  <a:srgbClr val="EA580C"/>
                </a:solidFill>
                <a:latin typeface="Calibri"/>
              </a:defRPr>
            </a:pPr>
            <a:r>
              <a:t>Prep time</a:t>
            </a:r>
          </a:p>
        </p:txBody>
      </p:sp>
      <p:sp>
        <p:nvSpPr>
          <p:cNvPr id="7" name="TextBox 6"/>
          <p:cNvSpPr txBox="1"/>
          <p:nvPr/>
        </p:nvSpPr>
        <p:spPr>
          <a:xfrm>
            <a:off x="548640" y="1956815"/>
            <a:ext cx="11064240" cy="457200"/>
          </a:xfrm>
          <a:prstGeom prst="rect">
            <a:avLst/>
          </a:prstGeom>
          <a:noFill/>
        </p:spPr>
        <p:txBody>
          <a:bodyPr wrap="square" anchor="t"/>
          <a:lstStyle/>
          <a:p>
            <a:pPr algn="l">
              <a:defRPr sz="1200" b="0">
                <a:solidFill>
                  <a:srgbClr val="374151"/>
                </a:solidFill>
                <a:latin typeface="Calibri"/>
              </a:defRPr>
            </a:pPr>
            <a:r>
              <a:t>8–10 minutes per order; 15 minutes total prep for mise en place (hollandaise holding and lobster portioning).</a:t>
            </a:r>
          </a:p>
        </p:txBody>
      </p:sp>
      <p:sp>
        <p:nvSpPr>
          <p:cNvPr id="8" name="TextBox 7"/>
          <p:cNvSpPr txBox="1"/>
          <p:nvPr/>
        </p:nvSpPr>
        <p:spPr>
          <a:xfrm>
            <a:off x="548640" y="2523744"/>
            <a:ext cx="11064240" cy="237744"/>
          </a:xfrm>
          <a:prstGeom prst="rect">
            <a:avLst/>
          </a:prstGeom>
          <a:noFill/>
        </p:spPr>
        <p:txBody>
          <a:bodyPr wrap="square" anchor="t"/>
          <a:lstStyle/>
          <a:p>
            <a:pPr algn="l">
              <a:defRPr sz="1100" b="1">
                <a:solidFill>
                  <a:srgbClr val="EA580C"/>
                </a:solidFill>
                <a:latin typeface="Calibri"/>
              </a:defRPr>
            </a:pPr>
            <a:r>
              <a:t>Equipment</a:t>
            </a:r>
          </a:p>
        </p:txBody>
      </p:sp>
      <p:sp>
        <p:nvSpPr>
          <p:cNvPr id="9" name="TextBox 8"/>
          <p:cNvSpPr txBox="1"/>
          <p:nvPr/>
        </p:nvSpPr>
        <p:spPr>
          <a:xfrm>
            <a:off x="548640" y="2761487"/>
            <a:ext cx="11064240" cy="457200"/>
          </a:xfrm>
          <a:prstGeom prst="rect">
            <a:avLst/>
          </a:prstGeom>
          <a:noFill/>
        </p:spPr>
        <p:txBody>
          <a:bodyPr wrap="square" anchor="t"/>
          <a:lstStyle/>
          <a:p>
            <a:pPr algn="l">
              <a:defRPr sz="1200" b="0">
                <a:solidFill>
                  <a:srgbClr val="374151"/>
                </a:solidFill>
                <a:latin typeface="Calibri"/>
              </a:defRPr>
            </a:pPr>
            <a:r>
              <a:t>Flat-top grill or convection oven, poaching station/pan, small saucepan for hollandaise, squeeze bottle for hollandaise, serving tongs, and rectangular plateware.</a:t>
            </a:r>
          </a:p>
        </p:txBody>
      </p:sp>
      <p:sp>
        <p:nvSpPr>
          <p:cNvPr id="10" name="TextBox 9"/>
          <p:cNvSpPr txBox="1"/>
          <p:nvPr/>
        </p:nvSpPr>
        <p:spPr>
          <a:xfrm>
            <a:off x="548640" y="3328415"/>
            <a:ext cx="11064240" cy="237744"/>
          </a:xfrm>
          <a:prstGeom prst="rect">
            <a:avLst/>
          </a:prstGeom>
          <a:noFill/>
        </p:spPr>
        <p:txBody>
          <a:bodyPr wrap="square" anchor="t"/>
          <a:lstStyle/>
          <a:p>
            <a:pPr algn="l">
              <a:defRPr sz="1100" b="1">
                <a:solidFill>
                  <a:srgbClr val="EA580C"/>
                </a:solidFill>
                <a:latin typeface="Calibri"/>
              </a:defRPr>
            </a:pPr>
            <a:r>
              <a:t>Pairings</a:t>
            </a:r>
          </a:p>
        </p:txBody>
      </p:sp>
      <p:sp>
        <p:nvSpPr>
          <p:cNvPr id="11" name="TextBox 10"/>
          <p:cNvSpPr txBox="1"/>
          <p:nvPr/>
        </p:nvSpPr>
        <p:spPr>
          <a:xfrm>
            <a:off x="548640" y="3566159"/>
            <a:ext cx="11064240" cy="457200"/>
          </a:xfrm>
          <a:prstGeom prst="rect">
            <a:avLst/>
          </a:prstGeom>
          <a:noFill/>
        </p:spPr>
        <p:txBody>
          <a:bodyPr wrap="square" anchor="t"/>
          <a:lstStyle/>
          <a:p>
            <a:pPr algn="l">
              <a:defRPr sz="1200" b="0">
                <a:solidFill>
                  <a:srgbClr val="374151"/>
                </a:solidFill>
                <a:latin typeface="Calibri"/>
              </a:defRPr>
            </a:pPr>
            <a:r>
              <a:t>Pairs excellently with a side of crispy breakfast potatoes or a light arugula and shaved fennel salad to cut through the richness. Best served with a chilled glass of fresh-squeezed orange juice or a crisp Mimosa.</a:t>
            </a:r>
          </a:p>
        </p:txBody>
      </p:sp>
      <p:sp>
        <p:nvSpPr>
          <p:cNvPr id="12" name="TextBox 11"/>
          <p:cNvSpPr txBox="1"/>
          <p:nvPr/>
        </p:nvSpPr>
        <p:spPr>
          <a:xfrm>
            <a:off x="548640" y="4133087"/>
            <a:ext cx="11064240" cy="237744"/>
          </a:xfrm>
          <a:prstGeom prst="rect">
            <a:avLst/>
          </a:prstGeom>
          <a:noFill/>
        </p:spPr>
        <p:txBody>
          <a:bodyPr wrap="square" anchor="t"/>
          <a:lstStyle/>
          <a:p>
            <a:pPr algn="l">
              <a:defRPr sz="1100" b="1">
                <a:solidFill>
                  <a:srgbClr val="EA580C"/>
                </a:solidFill>
                <a:latin typeface="Calibri"/>
              </a:defRPr>
            </a:pPr>
            <a:r>
              <a:t>Menu position</a:t>
            </a:r>
          </a:p>
        </p:txBody>
      </p:sp>
      <p:sp>
        <p:nvSpPr>
          <p:cNvPr id="13" name="TextBox 12"/>
          <p:cNvSpPr txBox="1"/>
          <p:nvPr/>
        </p:nvSpPr>
        <p:spPr>
          <a:xfrm>
            <a:off x="548640" y="4370831"/>
            <a:ext cx="11064240" cy="320040"/>
          </a:xfrm>
          <a:prstGeom prst="rect">
            <a:avLst/>
          </a:prstGeom>
          <a:noFill/>
        </p:spPr>
        <p:txBody>
          <a:bodyPr wrap="square" anchor="t"/>
          <a:lstStyle/>
          <a:p>
            <a:pPr algn="l">
              <a:defRPr sz="1200" b="0">
                <a:solidFill>
                  <a:srgbClr val="374151"/>
                </a:solidFill>
                <a:latin typeface="Calibri"/>
              </a:defRPr>
            </a:pPr>
            <a:r>
              <a:t>entree</a:t>
            </a:r>
          </a:p>
        </p:txBody>
      </p:sp>
      <p:sp>
        <p:nvSpPr>
          <p:cNvPr id="14" name="TextBox 13"/>
          <p:cNvSpPr txBox="1"/>
          <p:nvPr/>
        </p:nvSpPr>
        <p:spPr>
          <a:xfrm>
            <a:off x="548640" y="6492240"/>
            <a:ext cx="11064240" cy="256032"/>
          </a:xfrm>
          <a:prstGeom prst="rect">
            <a:avLst/>
          </a:prstGeom>
          <a:noFill/>
        </p:spPr>
        <p:txBody>
          <a:bodyPr wrap="square" anchor="t"/>
          <a:lstStyle/>
          <a:p>
            <a:pPr algn="ctr">
              <a:defRPr sz="900" b="0">
                <a:solidFill>
                  <a:srgbClr val="6B7280"/>
                </a:solidFill>
                <a:latin typeface="Calibri"/>
              </a:defRPr>
            </a:pPr>
            <a:r>
              <a:t>Powered by Affinity NXT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1959</Words>
  <Application>Microsoft Office PowerPoint</Application>
  <PresentationFormat>Widescreen</PresentationFormat>
  <Paragraphs>131</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Bob Janz</dc:creator>
  <cp:keywords/>
  <dc:description>generated using python-pptx</dc:description>
  <cp:lastModifiedBy>Bob Janz</cp:lastModifiedBy>
  <cp:revision>1</cp:revision>
  <dcterms:created xsi:type="dcterms:W3CDTF">2013-01-27T09:14:16Z</dcterms:created>
  <dcterms:modified xsi:type="dcterms:W3CDTF">2026-10-15T00:48:32Z</dcterms:modified>
  <cp:category/>
</cp:coreProperties>
</file>